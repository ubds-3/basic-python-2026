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65" r:id="rId4"/>
    <p:sldId id="264" r:id="rId5"/>
    <p:sldId id="266" r:id="rId6"/>
    <p:sldId id="267" r:id="rId7"/>
    <p:sldId id="268" r:id="rId8"/>
    <p:sldId id="269" r:id="rId9"/>
    <p:sldId id="31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94" r:id="rId23"/>
    <p:sldId id="295" r:id="rId24"/>
    <p:sldId id="284" r:id="rId25"/>
    <p:sldId id="283" r:id="rId26"/>
    <p:sldId id="285" r:id="rId27"/>
    <p:sldId id="286" r:id="rId28"/>
    <p:sldId id="287" r:id="rId29"/>
    <p:sldId id="288" r:id="rId30"/>
    <p:sldId id="289" r:id="rId31"/>
    <p:sldId id="290" r:id="rId32"/>
    <p:sldId id="292" r:id="rId33"/>
    <p:sldId id="291" r:id="rId34"/>
    <p:sldId id="293" r:id="rId35"/>
    <p:sldId id="321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20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31"/>
  </p:normalViewPr>
  <p:slideViewPr>
    <p:cSldViewPr snapToGrid="0">
      <p:cViewPr varScale="1">
        <p:scale>
          <a:sx n="87" d="100"/>
          <a:sy n="87" d="100"/>
        </p:scale>
        <p:origin x="74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48.159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nkEffects" value="pencil"/>
    </inkml:brush>
  </inkml:definitions>
  <inkml:trace contextRef="#ctx0" brushRef="#br0">1 1661 16383,'7'-69'0,"30"-1"0,-5 13 0,7-2 0,16 0 0,7 2 0,-14 13 0,3 0 0,3-1 0,8-3 0,3 0 0,3 1 0,9-5 0,4 2 0,2 0 0,-13 11 0,2 2 0,2-1 0,3 0 0,-4 3 0,4-1 0,1-1 0,0 3 0,-2 1 0,8-1 0,-3 3 0,1 1 0,2-1 0,8-2 0,3 0 0,-1 1 0,-4 4 0,8-1 0,-2 4 0,-3 2 0,-6 4 0,-1 1 0,-1 1 0,-5-1 0,0 0 0,-3 3 0,21-2 0,-6 4 0,-24 3 0,-3 1 0,2 1 0,-5 1 0,21-2 0,6 1 0,-19-5 0,-18 12 0,-10-5 0,-18 6 0,-3 0 0,-12 0 0,-3 0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50.854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nkEffects" value="pencil"/>
    </inkml:brush>
  </inkml:definitions>
  <inkml:trace contextRef="#ctx0" brushRef="#br0">0 0 16383,'50'66'0,"-3"1"0,-6 2 0,11 12 0,-9-10 0,1-5 0,-5-1 0,2-9 0,2 8 0,5-8 0,-1-3 0,-6-13 0,-3-2 0,-3-8 0,-18-14 0,4 0 0,-11-6 0,0-1 0,-5-3 0,-1-2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1:04.643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nkEffects" value="pencil"/>
    </inkml:brush>
  </inkml:definitions>
  <inkml:trace contextRef="#ctx0" brushRef="#br0">736 0 16383,'-32'0'0,"-1"0"0,22 0 0,-15 0 0,2 11 0,-7 14 0,-24 40 0,16 0 0,8-11 0,-1-1 0,-8 6 0,17-12 0,0 0 0,-27 22 0,27-25 0,-1 1 0,-27 38 0,8-5 0,9-17 0,2-10 0,13-15 0,-3-2 0,15-16 0,-8 3 0,9-12 0,1 1 0,1-1 0,4 1 0,0-1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67A3-A7D8-CF91-ABBF-C2393FE85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1B8AC-C58A-6902-97F8-923C7EE65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908EB-ECFD-B14E-05E4-D78E7D078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4E77-99D1-5743-A3DD-8B1A5B873336}" type="datetimeFigureOut">
              <a:rPr lang="en-ES" smtClean="0"/>
              <a:t>25/3/26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3550E-23A6-67AD-60B3-DF336D9D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576BC-61E4-8362-A73B-009D5DEB9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5C07-9907-5545-81CF-B02B1404D40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180066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28C7-B4F7-B68F-AF1A-E34C58714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4D5C1-A9A2-AA94-7AA0-58810774E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368C2-3B26-62C2-49F9-1A0A39F6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4E77-99D1-5743-A3DD-8B1A5B873336}" type="datetimeFigureOut">
              <a:rPr lang="en-ES" smtClean="0"/>
              <a:t>25/3/26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BE0F3-E9AA-8D8D-6622-FF1A0BADF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21F4C-C152-5FD7-0DD6-8C2AB47E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5C07-9907-5545-81CF-B02B1404D40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425961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6C8CC-DC44-BD14-F3CB-777528BE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4E267-067F-33AE-2D57-465CE1063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A0602-77BE-741A-C5FA-969AD955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4E77-99D1-5743-A3DD-8B1A5B873336}" type="datetimeFigureOut">
              <a:rPr lang="en-ES" smtClean="0"/>
              <a:t>25/3/26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779F5-F029-8692-0C45-335131CE3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902BC-86F4-3292-B1C3-06E4DD036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5C07-9907-5545-81CF-B02B1404D40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491949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5F0E-54C3-F95E-B7FE-F685F47DB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8F8B7-10E8-727E-072F-C27EA4500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AD5B2-6C49-5C2C-1BD5-58FE195C3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9F2E4-E975-055E-1804-A65101364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4E77-99D1-5743-A3DD-8B1A5B873336}" type="datetimeFigureOut">
              <a:rPr lang="en-ES" smtClean="0"/>
              <a:t>25/3/26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0A36C-3117-E1C3-CF38-B771AE34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FC67C-8CD0-1C97-0951-5A849AE41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5C07-9907-5545-81CF-B02B1404D40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45558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1B102-FA0C-35D3-5AAE-ECF24DB20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ADBA1-1550-A0D7-1DC4-E1B547E1F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67FDD-98BA-AEE5-25CF-A1F5EDF4E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6B982B-A01F-FABF-F750-7713570C51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BA7CC-CB19-E6CE-7C55-60E9657D1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A05AAA-4C61-8271-4DFA-FF53906D5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4E77-99D1-5743-A3DD-8B1A5B873336}" type="datetimeFigureOut">
              <a:rPr lang="en-ES" smtClean="0"/>
              <a:t>25/3/26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7177B8-FC0E-CEEE-71AF-5DAE9BD54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7D1773-846A-D6DA-4E4E-457D8DEB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5C07-9907-5545-81CF-B02B1404D40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57258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0867-5989-6288-48A3-D23091E1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FA47B-2F22-8826-9381-5D23BDEE4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4E77-99D1-5743-A3DD-8B1A5B873336}" type="datetimeFigureOut">
              <a:rPr lang="en-ES" smtClean="0"/>
              <a:t>25/3/26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68F10D-316C-B15E-3BBB-D1231686B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7A98B8-1C95-CCDA-92BF-AADFF96C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5C07-9907-5545-81CF-B02B1404D40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66376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A6EFE0-CF9A-168D-A962-660BB23C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4E77-99D1-5743-A3DD-8B1A5B873336}" type="datetimeFigureOut">
              <a:rPr lang="en-ES" smtClean="0"/>
              <a:t>25/3/26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39CBC-2BC2-B1F8-090F-7D2046B2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96811-5368-F53A-6599-9A4475405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5C07-9907-5545-81CF-B02B1404D40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73776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EE41A-C963-271E-DF3A-15B974BB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5D77C-540E-E8AE-A3B9-57904EFA6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EFF15-42D2-0783-10C4-6F33462AF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81444-2A70-A0AF-EAF2-EDF589CE7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4E77-99D1-5743-A3DD-8B1A5B873336}" type="datetimeFigureOut">
              <a:rPr lang="en-ES" smtClean="0"/>
              <a:t>25/3/26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C3CBA-3D69-E7E1-42F5-61438409B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8BBD0-1CB2-9452-DACC-07074384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5C07-9907-5545-81CF-B02B1404D40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07629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2C40A-9787-1924-B8B5-185D2A869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33840F-15B9-B67F-201B-B15529A42E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FF48B-3ED9-C608-7DB8-48871A76C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C9C6B-FC36-9D6C-E276-87158A07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4E77-99D1-5743-A3DD-8B1A5B873336}" type="datetimeFigureOut">
              <a:rPr lang="en-ES" smtClean="0"/>
              <a:t>25/3/26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5AFCD-B96C-5B4B-F227-94946495B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32823-7D77-A264-99D3-16939F53D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5C07-9907-5545-81CF-B02B1404D40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72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2C6D-2AFB-B5F4-5FD2-52D28CA6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4C775-B9F8-4206-2489-1C2637892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568C1-5C8A-4241-F203-D645ABEC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4E77-99D1-5743-A3DD-8B1A5B873336}" type="datetimeFigureOut">
              <a:rPr lang="en-ES" smtClean="0"/>
              <a:t>25/3/26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838F5-951C-727F-1A70-0C6329889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006F5-FBAE-C9CE-DF3D-4FCD56077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5C07-9907-5545-81CF-B02B1404D40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327001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70CD56-23F9-A39B-A21B-27B51103B8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BBEAE-DDEF-1FD7-B9B1-925D8DA20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A2564-47E1-F07B-7974-237D1962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4E77-99D1-5743-A3DD-8B1A5B873336}" type="datetimeFigureOut">
              <a:rPr lang="en-ES" smtClean="0"/>
              <a:t>25/3/26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0517F-6067-82DB-D17E-788B87A5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8E489-895E-C9EB-92E9-9805BDF1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A5C07-9907-5545-81CF-B02B1404D40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37349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15EB0D-B191-F52C-63BF-B21147EFC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7F22A-701E-8E46-4D2C-64281EE55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DBA38-DF81-162C-715F-D8D1014140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34E77-99D1-5743-A3DD-8B1A5B873336}" type="datetimeFigureOut">
              <a:rPr lang="en-ES" smtClean="0"/>
              <a:t>25/3/26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EEEDF-BFA3-E87F-0B69-7C9F0F8116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0F110-645B-26E4-4A80-AAADF0AFE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A5C07-9907-5545-81CF-B02B1404D408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94617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2.png"/><Relationship Id="rId4" Type="http://schemas.openxmlformats.org/officeDocument/2006/relationships/customXml" Target="../ink/ink1.xml"/><Relationship Id="rId9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CC4FE7-791B-A03F-5089-638B5DECAF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4CC9A1E-D68E-A948-752E-A561A2F4D8E8}"/>
              </a:ext>
            </a:extLst>
          </p:cNvPr>
          <p:cNvSpPr/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E6A17-2B81-F17D-4257-3CFE4F70C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06895"/>
            <a:ext cx="9144000" cy="2387600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Day 2: Core Python for Bioinformatics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1028" name="Picture 4" descr="Dna strand - Free education icons">
            <a:extLst>
              <a:ext uri="{FF2B5EF4-FFF2-40B4-BE49-F238E27FC236}">
                <a16:creationId xmlns:a16="http://schemas.microsoft.com/office/drawing/2014/main" id="{A7EDD1A5-06F8-F889-8E4D-02CECC901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Dna strand - Free education icons">
            <a:extLst>
              <a:ext uri="{FF2B5EF4-FFF2-40B4-BE49-F238E27FC236}">
                <a16:creationId xmlns:a16="http://schemas.microsoft.com/office/drawing/2014/main" id="{5745F29F-0712-3D4A-DF38-9A07775A1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822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25"/>
    </mc:Choice>
    <mc:Fallback>
      <p:transition spd="slow" advTm="792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4B9CB-9637-CFDA-3FDB-4DCD7D35E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53079-4612-7216-7FDD-E78304FD1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23E845-555D-9B10-55C3-0CAC06C0B9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CA49EC-9523-03FB-34F7-0DEF75CA8A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8044ED96-7EA8-8FD4-40AD-E7CC1381C5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E6F6EC73-1529-A9BA-B47E-EA7ADD54A8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01B13C6-5293-CCE3-CE09-ACD53A7A2F31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C0D3B8D-FA65-6746-6454-305C269CD5C9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“A string is a sequence of characters written inside quotes. It can include letters, numbers, symbols and spaces.”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Python does not have a separate character type.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 single character is treated as a string of length one.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Strings are commonly used for text handling and manipulation.</a:t>
            </a: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11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C3C32-13CC-08DD-3A7A-7294B135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71C5-EC1F-E72E-4230-1197B4EE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21A30-FEDC-424B-E33C-C562FD694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D8EAEA-D1A9-EC3F-8A8A-09D9EDABA5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D4D6DAB-8974-2676-19C1-3DEAFF5307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E49BFCE4-B528-8AE8-8D15-267DEEAA62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412C8756-5BA4-413B-BF7B-7AA50683FE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CB255AB-63C5-60D5-E1CF-0E38972F0139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531911D-4298-A23A-8B5C-985FBDA2F08B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How can I create a string?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0D4C22-59B2-9BC5-05D3-240E32A5B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60" y="3192315"/>
            <a:ext cx="5034875" cy="19357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E53DE2-ABB9-547B-3432-99C8EB208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604" y="3181684"/>
            <a:ext cx="5090180" cy="1957055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845293E9-F692-2455-1D1F-98B728EB3164}"/>
              </a:ext>
            </a:extLst>
          </p:cNvPr>
          <p:cNvSpPr txBox="1">
            <a:spLocks/>
          </p:cNvSpPr>
          <p:nvPr/>
        </p:nvSpPr>
        <p:spPr>
          <a:xfrm>
            <a:off x="7261137" y="2645403"/>
            <a:ext cx="3567113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Using single quotes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FFCD4DD-E4C5-E08B-8224-9B4564775BF5}"/>
              </a:ext>
            </a:extLst>
          </p:cNvPr>
          <p:cNvSpPr txBox="1">
            <a:spLocks/>
          </p:cNvSpPr>
          <p:nvPr/>
        </p:nvSpPr>
        <p:spPr>
          <a:xfrm>
            <a:off x="1334440" y="2645403"/>
            <a:ext cx="3567113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Using double quotes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12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FD04F-064C-888F-7A97-7098B920E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1D391-2A11-5EDA-37DB-D8847EEB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624EAC34-815D-189C-2E32-5ED420DDC8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4204577"/>
              </p:ext>
            </p:extLst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8DF6EC6-8C9C-781F-B4D2-8D37B1F91B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5931675-A512-D933-9CCD-C75E049A38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CB3420E6-5978-AAAE-822A-08E68B74B7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3689204C-81EB-4A69-4ECF-E8B2867F9FD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452477-B5A4-6BE9-6807-82336F8AE8F7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6E48BDF-606B-3038-5536-F14E7A5631E9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Accessing characters in a string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Strings are indexed sequences. Positive indices start at 0 from the left, negative indices start at -1 from the right as represented in below image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FAA9A88-658E-5C90-19CE-EC2B3F991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106798"/>
              </p:ext>
            </p:extLst>
          </p:nvPr>
        </p:nvGraphicFramePr>
        <p:xfrm>
          <a:off x="2032000" y="4000826"/>
          <a:ext cx="8128000" cy="20192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8378437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0486136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817615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5112085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2644489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96394776"/>
                    </a:ext>
                  </a:extLst>
                </a:gridCol>
              </a:tblGrid>
              <a:tr h="673076"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673076"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673076"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-8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-7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-6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-4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-3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--1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762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B5920-9AD4-8D7A-79E9-6D61EEE27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C5EF8-140A-60EA-A756-6826CEC45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E5131E79-7338-8E88-F01E-F628270024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F43ABA8-5C3C-F6F1-7094-D532BE1E0F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FAD523-B4C7-FC54-7B3C-AA240E029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37E40485-E180-419D-882B-927CA51D36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CD3153C5-28CC-8DEA-828B-2927C1AB12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59AD8CD-DFF7-164C-C24E-26227BFFC737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EF3CC9-B8B6-FE3D-A123-A4E5BAE40A45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Accessing characters in a string: Example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ES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We want to extract first character of “</a:t>
            </a:r>
            <a:r>
              <a:rPr lang="en-ES" sz="2800" dirty="0">
                <a:solidFill>
                  <a:srgbClr val="C00000"/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M</a:t>
            </a:r>
            <a:r>
              <a:rPr lang="en-ES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eryl Streep”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F64D26-C970-1C98-AAF6-4880D8E7B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900" y="3706812"/>
            <a:ext cx="3594100" cy="22535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82EBF6-05C9-31EB-31AB-39B3D6EC0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3706812"/>
            <a:ext cx="3630225" cy="225350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3FC6614A-AA9D-EB70-5510-4B289A832746}"/>
              </a:ext>
            </a:extLst>
          </p:cNvPr>
          <p:cNvSpPr txBox="1">
            <a:spLocks/>
          </p:cNvSpPr>
          <p:nvPr/>
        </p:nvSpPr>
        <p:spPr>
          <a:xfrm>
            <a:off x="1555555" y="3265820"/>
            <a:ext cx="3567113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Option 1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667DF56-C448-2AD4-0AC9-8DE53F4F9075}"/>
              </a:ext>
            </a:extLst>
          </p:cNvPr>
          <p:cNvSpPr txBox="1">
            <a:spLocks/>
          </p:cNvSpPr>
          <p:nvPr/>
        </p:nvSpPr>
        <p:spPr>
          <a:xfrm>
            <a:off x="7087393" y="3261855"/>
            <a:ext cx="3567113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Option 2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FBFC23AD-9B6B-9BC4-BE4A-6FFA87034D4C}"/>
              </a:ext>
            </a:extLst>
          </p:cNvPr>
          <p:cNvSpPr/>
          <p:nvPr/>
        </p:nvSpPr>
        <p:spPr>
          <a:xfrm flipV="1">
            <a:off x="6805548" y="2930761"/>
            <a:ext cx="464457" cy="57880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3127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A1AD1-8513-7971-B66C-783F094F7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F640C-E735-38D6-4FBE-E98D975BD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1B677BD2-7734-0CCD-AECB-FAFCB169B07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A106678-3A5C-6BCF-14D5-181F28BC13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1AACC43-CD3D-EFC9-D4B1-F48005F0E9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E487BC44-ADFF-2D71-1695-34BE6561DE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6D74B367-232E-F1F9-422D-AE478CBA12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B1ACB39-A680-9313-EBB6-067729F42AEB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5160924-0F74-24AA-45BF-BB3A4FFE0499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 slicing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 way to extract a portion of a string by specifying the start and end indexes. Example: </a:t>
            </a:r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Extracting the surname of a person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193779-C7ED-7B03-BD56-D3221B3DF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154" y="3495049"/>
            <a:ext cx="4391691" cy="273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37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4A768-67C7-6E8B-468B-2DB2CD9D1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90A78-B942-3A4C-6581-0BAF24D4E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EE184058-D3D0-DA3A-48E1-33321BB191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13BC435-77D4-6A05-7D83-0C88ACC56D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794459-FEA7-33DF-4943-399BC8091F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A3A8123C-2BA0-DC65-CC41-2DE5E5C869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0AC92293-B852-B58C-786F-531843BBE2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2520BF1-27D8-39A7-5225-802731E2D300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4B2E448-2535-10D9-ABD2-7440FD4E3927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 Immutability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Strings are immutable, which means that they cannot be changed after they are created. To manipulate strings we can use: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FB03B3-07E3-4ABF-A0A2-9C1652F5FF73}"/>
              </a:ext>
            </a:extLst>
          </p:cNvPr>
          <p:cNvSpPr/>
          <p:nvPr/>
        </p:nvSpPr>
        <p:spPr>
          <a:xfrm>
            <a:off x="2647603" y="3706812"/>
            <a:ext cx="2824283" cy="10595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BF0787-89EF-899E-FDA2-EB7AFE1C6636}"/>
              </a:ext>
            </a:extLst>
          </p:cNvPr>
          <p:cNvSpPr/>
          <p:nvPr/>
        </p:nvSpPr>
        <p:spPr>
          <a:xfrm>
            <a:off x="6705600" y="4130529"/>
            <a:ext cx="2824283" cy="105954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583C79C-CE90-2ACE-B775-843184FC019A}"/>
              </a:ext>
            </a:extLst>
          </p:cNvPr>
          <p:cNvSpPr/>
          <p:nvPr/>
        </p:nvSpPr>
        <p:spPr>
          <a:xfrm>
            <a:off x="3881317" y="5137831"/>
            <a:ext cx="2824283" cy="105954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E177AC5-931A-229A-855E-82A8AEDB9060}"/>
              </a:ext>
            </a:extLst>
          </p:cNvPr>
          <p:cNvSpPr txBox="1">
            <a:spLocks/>
          </p:cNvSpPr>
          <p:nvPr/>
        </p:nvSpPr>
        <p:spPr>
          <a:xfrm>
            <a:off x="2662117" y="3960845"/>
            <a:ext cx="2824284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Concatenation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41674DA-B7F1-DC4A-1DA7-C37E84B1F11C}"/>
              </a:ext>
            </a:extLst>
          </p:cNvPr>
          <p:cNvSpPr txBox="1">
            <a:spLocks/>
          </p:cNvSpPr>
          <p:nvPr/>
        </p:nvSpPr>
        <p:spPr>
          <a:xfrm>
            <a:off x="6705599" y="4431161"/>
            <a:ext cx="2824284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Slicing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1EA6908-2FEC-8991-8EA4-51AE25285E7F}"/>
              </a:ext>
            </a:extLst>
          </p:cNvPr>
          <p:cNvSpPr txBox="1">
            <a:spLocks/>
          </p:cNvSpPr>
          <p:nvPr/>
        </p:nvSpPr>
        <p:spPr>
          <a:xfrm>
            <a:off x="3881317" y="5413857"/>
            <a:ext cx="2824284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Formatting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001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0DCFD-8923-A598-9C63-A14CEE3C5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7B7B-D65E-AC24-C9F7-A4FC24A6A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0366E3AD-6AF8-BE3F-C410-248716239C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FFF84B7-BD3D-C94A-A261-FCC4AC6BA0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999760-2B40-92DA-D2CA-88C351FA07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AEBB79BA-E499-EA6B-F712-2C5AA83E7F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B2789BB8-028A-1510-35E1-8ED63E588F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84CB810-B6FB-5C15-4F46-3E9980BB6D36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6A59DF3-F7B9-DD38-1DDF-CE1E9D1480D5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 Immutability: Example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Capitalizing the name of a person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AE2584-D852-D657-25EB-479947E07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234" y="3085300"/>
            <a:ext cx="4804655" cy="3342369"/>
          </a:xfrm>
          <a:prstGeom prst="rect">
            <a:avLst/>
          </a:prstGeom>
        </p:spPr>
      </p:pic>
      <p:sp>
        <p:nvSpPr>
          <p:cNvPr id="9" name="Down Arrow 8">
            <a:extLst>
              <a:ext uri="{FF2B5EF4-FFF2-40B4-BE49-F238E27FC236}">
                <a16:creationId xmlns:a16="http://schemas.microsoft.com/office/drawing/2014/main" id="{86D0F558-5F25-2B57-602A-79293151D8B7}"/>
              </a:ext>
            </a:extLst>
          </p:cNvPr>
          <p:cNvSpPr/>
          <p:nvPr/>
        </p:nvSpPr>
        <p:spPr>
          <a:xfrm rot="10800000" flipV="1">
            <a:off x="5241950" y="3545834"/>
            <a:ext cx="464457" cy="57880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</p:spTree>
    <p:extLst>
      <p:ext uri="{BB962C8B-B14F-4D97-AF65-F5344CB8AC3E}">
        <p14:creationId xmlns:p14="http://schemas.microsoft.com/office/powerpoint/2010/main" val="2571897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31D9A-42F7-8D44-6C7C-36A480CCD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6B6B-3E4A-7507-4E7C-C1FF90B9F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B1F2A5DD-2C54-28CD-7DEE-EAF2AC39C0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D6CE585-2329-CBD2-46A6-9C10D81B40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7B7CE7B-315B-F977-2BDB-AB90BDC756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86E61C7A-BF20-3338-8B0D-157CCB276F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77C3228C-7E95-ECBB-A5F5-89405C463C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E01BF7B-B378-E5E8-2383-186A6CFB4C11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AACB597-1202-E3A0-DA75-2AF1C3F8EF73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 Immutability: Example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MERYL STREEP INDEX ADD!!!! VISUAL EXAMPLE!!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255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9BCF1-C862-6E6B-5E0F-D4299F0E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A377D-E207-B424-6959-69BB49E2D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2B78FCE5-83D2-218E-ED07-781499D22D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818CB57-3C92-E5CA-AEC0-628330653E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207EF5E-18D6-5BC7-EFDC-549D619C2B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5D8D4281-3B41-714D-994F-B39184B2C7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022314B5-561D-CE04-3F2B-6DA2D082C3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24DB59F-1F76-C051-5B69-C94F0BD88145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0E38605-C509-DFCC-2F2C-10F18D857A75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 Immutability: Example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Capitalizing the name and surname of a person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90D82-50B6-AC33-638A-8141D9683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342" y="3061903"/>
            <a:ext cx="5684157" cy="3216991"/>
          </a:xfrm>
          <a:prstGeom prst="rect">
            <a:avLst/>
          </a:prstGeom>
        </p:spPr>
      </p:pic>
      <p:sp>
        <p:nvSpPr>
          <p:cNvPr id="12" name="Down Arrow 11">
            <a:extLst>
              <a:ext uri="{FF2B5EF4-FFF2-40B4-BE49-F238E27FC236}">
                <a16:creationId xmlns:a16="http://schemas.microsoft.com/office/drawing/2014/main" id="{017004B4-C91A-96FB-F0A4-FF2BA751EFB0}"/>
              </a:ext>
            </a:extLst>
          </p:cNvPr>
          <p:cNvSpPr/>
          <p:nvPr/>
        </p:nvSpPr>
        <p:spPr>
          <a:xfrm rot="10800000" flipV="1">
            <a:off x="4859285" y="3551728"/>
            <a:ext cx="464457" cy="57880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58DFF153-B3BA-5110-65AD-5F09C84AC146}"/>
              </a:ext>
            </a:extLst>
          </p:cNvPr>
          <p:cNvSpPr/>
          <p:nvPr/>
        </p:nvSpPr>
        <p:spPr>
          <a:xfrm rot="10800000" flipV="1">
            <a:off x="6011206" y="3545834"/>
            <a:ext cx="464457" cy="57880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</p:spTree>
    <p:extLst>
      <p:ext uri="{BB962C8B-B14F-4D97-AF65-F5344CB8AC3E}">
        <p14:creationId xmlns:p14="http://schemas.microsoft.com/office/powerpoint/2010/main" val="792048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0D123-D20B-53AF-68C4-FBF93B97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9EB57-D662-C059-8365-B22012155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0032A561-D3FB-0A60-8712-D49768F390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25444E2-8420-3F22-1A4F-3433A641BB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000B66-7CDF-1D4F-B386-BA9FC0147C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48AEDD22-2272-1568-988D-C151E6A737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6D47A60D-D393-C7DA-C426-AEFF45D359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9323419-3661-7E53-DC13-13EEDDF512F5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44E08E1-1363-6D27-28B2-2F8F574D1A5B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 Methods: replace()</a:t>
            </a:r>
          </a:p>
          <a:p>
            <a:endParaRPr lang="en-GB" sz="2800" u="sng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Returns a new string where all occurrences of a specified substring are replaced with another substring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25C51D-B7E6-CB2F-F40B-F45960C8C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372" y="3421700"/>
            <a:ext cx="7132922" cy="302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639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896FE-79DC-A9DB-9FFF-C63A10FD3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F9CBC-91DD-0EFE-C7A9-D4D2D649A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E3E93C31-5A16-9B0E-3B67-6F4211085E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9D2FD2A-B5B6-9908-1D27-F9621C97D3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48A0C3-0BD9-A83C-89A5-8622050771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CFBCFD63-01B2-CC3B-60AC-7DBAEDA6B1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609BD408-19DC-EF51-4369-3C6B499345B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A332158-5B90-182C-B5FF-9D35E9B4C573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081C9A9-16AD-3E8F-E19A-ED45F85A8760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 Methods: </a:t>
            </a:r>
            <a:r>
              <a:rPr lang="en-GB" sz="2800" u="sng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len</a:t>
            </a:r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()</a:t>
            </a:r>
          </a:p>
          <a:p>
            <a:endParaRPr lang="en-GB" sz="2800" u="sng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Returns the total number of characters in a string: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9035CE-53B2-C45F-5560-32242BB27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171" y="3181684"/>
            <a:ext cx="4813657" cy="304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55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9E6EA-1AE1-3EB7-4901-C3803D894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B0201-3254-B93E-AFBD-4832F208E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25FE1591-7F6F-6A31-6B15-ADB4247AF38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348B2DA-AA09-124F-862C-02F558CB9F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8F70A0F-0E0F-BDD3-DB92-3C2C8AFF8C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E01E3D9E-ADF5-D4A6-0C67-56E07D1CC0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C2F4BD65-1691-9811-74A5-C309C0289C4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64D2-E023-7466-C54F-18EFF8F02A5E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705511A-A31B-5BC4-7808-B32897C2A078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 Methods: upper() and lower()</a:t>
            </a:r>
          </a:p>
          <a:p>
            <a:endParaRPr lang="en-GB" sz="2800" u="sng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upper(): Converts all characters to uppercase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lower(): Converts all characters to lowercase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03861A-34BC-153E-991D-FED25EEC8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255" y="3557824"/>
            <a:ext cx="4251858" cy="26430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E23D5C-D099-8568-F6C2-012836A61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142" y="3557823"/>
            <a:ext cx="4251858" cy="264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37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625DC-5462-FD9B-2D63-62B907B9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269A-8B6F-ACFC-4289-AC4C129B0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8A462AB7-A5EB-E596-8ECD-AED4A8BF555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6DBBCE1-A388-9F9D-20F9-28271CC6F0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3A8B101-EF7E-C211-B480-C1EBB815B1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4C0D804C-46EE-13D4-EB34-97716F7F699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F7B55B4B-D28F-A4D1-1037-886E818B07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E5526AF-4907-018F-1076-076012009294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3AB01A0-67E1-530C-6016-9AD3A5F86A54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 Methods: strip()</a:t>
            </a:r>
          </a:p>
          <a:p>
            <a:endParaRPr lang="en-GB" sz="2800" u="sng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Removes all leading and trailing whitespace from the string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06E8F2-AC5B-0AEE-987C-A50509997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875" y="3123573"/>
            <a:ext cx="6064250" cy="314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83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15406-30C5-581F-19EA-605517679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CCBA-34D4-D2B6-639C-C219C8654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BCF7B620-B81B-0DE7-9363-524ACC184D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9BE04A7-3013-5A33-7800-8CED64D026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C7B8DB5-78A6-F243-F4F1-258441902E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D8164EA3-AF78-A3C7-01B0-B7AB63ADA6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35EEDDE8-67B6-4C9A-2180-42393AA720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CAD37E7-3496-FC35-E4F4-41C208392D8A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00398FB-3CD2-419B-5E91-EF008B4083BD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 Methods: other methods</a:t>
            </a:r>
          </a:p>
          <a:p>
            <a:endParaRPr lang="en-GB" sz="2800" u="sng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https://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www.geeksforgeeks.org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/python/python-string-methods/</a:t>
            </a:r>
          </a:p>
        </p:txBody>
      </p:sp>
    </p:spTree>
    <p:extLst>
      <p:ext uri="{BB962C8B-B14F-4D97-AF65-F5344CB8AC3E}">
        <p14:creationId xmlns:p14="http://schemas.microsoft.com/office/powerpoint/2010/main" val="717213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57B3A-5CFA-7655-4C80-2CE0AD1F6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C570-4AD5-A660-A156-594AE0DC4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07FB8A30-795B-7030-B284-EE21CFF44ED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EE7B79A-F770-D441-46D3-B07C0DA29D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49E3FB-182F-14E1-8BAB-422CA6DA5B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4CAB6F4D-6DC9-B00F-35C1-940A34531A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4FE3A2E2-2C1A-59CF-E66F-0A17445019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2F2C1DA-B647-CD56-3672-A33859A84B2C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6C2AC-AE71-8173-4F0B-FB1505C89196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 Concatenating</a:t>
            </a:r>
          </a:p>
          <a:p>
            <a:endParaRPr lang="en-GB" sz="2800" u="sng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We can concatenate strings using + operator.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01A954-382E-4C3C-CA9B-C8E4DECC9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435" y="3235068"/>
            <a:ext cx="4647394" cy="314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88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2B185-87C8-0365-DC22-D3A9C3A5F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91FF7-3651-57AB-B1B9-10847F724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27A86E8B-7F14-35D9-C885-F3C73AC77A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73E2815-BA4C-7FDB-AB8B-4EA529F570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2875E4-716B-EFE9-E759-DF9E13FB25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6C7A13B3-958B-C6B8-5AAF-21C58D9DC4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BFDDCFAD-5A1F-8F79-AD1E-22E2EE69AF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B2BF5E7-93BB-58C6-0C4B-E48099D3ADA9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CAA6726-6744-9068-BC93-86B211374CBC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String Repeating</a:t>
            </a:r>
          </a:p>
          <a:p>
            <a:endParaRPr lang="en-GB" sz="2800" u="sng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We can repeat a string multiple times using * operator.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C21DFE-1808-E306-C289-272F9E538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164" y="3123573"/>
            <a:ext cx="5509671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8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E5FFB-DA21-AD7B-6752-9FEB18784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CDF81-DA21-BF03-43A1-3D1684BB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DA5E86BD-4AEF-E6BE-CA7E-3D507A63C3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7F245A7-F622-C236-1288-7B355AC8E5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D1FAFA-6923-E580-4CB7-9CF48E9C59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4C816BEB-B84D-7FD5-BF8D-0ED989AC6C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5BE5BEB8-7217-B9EB-203D-B2CB5F471E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B8612B8-A9BF-95E2-AF82-8B9B0C06D33E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A7A10D3-A7E1-9641-BFE0-23036D9AD075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Formatting strings</a:t>
            </a:r>
          </a:p>
          <a:p>
            <a:endParaRPr lang="en-GB" sz="2800" u="sng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We can include variables inside strings. These are the two most used ways: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31FB5-9C2B-684A-7C60-C7924959372D}"/>
              </a:ext>
            </a:extLst>
          </p:cNvPr>
          <p:cNvSpPr/>
          <p:nvPr/>
        </p:nvSpPr>
        <p:spPr>
          <a:xfrm>
            <a:off x="1973821" y="3854773"/>
            <a:ext cx="3626827" cy="174760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93616D7-C211-B73E-9061-91477F9C12DB}"/>
              </a:ext>
            </a:extLst>
          </p:cNvPr>
          <p:cNvSpPr txBox="1">
            <a:spLocks/>
          </p:cNvSpPr>
          <p:nvPr/>
        </p:nvSpPr>
        <p:spPr>
          <a:xfrm>
            <a:off x="2375092" y="4466040"/>
            <a:ext cx="2824284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f-string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27AAE98-0DAB-B074-217F-9AD93F7BD324}"/>
              </a:ext>
            </a:extLst>
          </p:cNvPr>
          <p:cNvSpPr/>
          <p:nvPr/>
        </p:nvSpPr>
        <p:spPr>
          <a:xfrm>
            <a:off x="6096000" y="3867601"/>
            <a:ext cx="3626827" cy="174760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A289A0F-1D9F-FB3C-6F54-EF3FF473E5DD}"/>
              </a:ext>
            </a:extLst>
          </p:cNvPr>
          <p:cNvSpPr txBox="1">
            <a:spLocks/>
          </p:cNvSpPr>
          <p:nvPr/>
        </p:nvSpPr>
        <p:spPr>
          <a:xfrm>
            <a:off x="6497271" y="4466040"/>
            <a:ext cx="2824284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format()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776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54BA1-B9CF-589A-00E4-CDF4BF98E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0FE49-17B4-5C4E-A522-CD6872EC3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5DA3666B-ECC8-FA83-36CD-B338D36445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59CEC49-B443-B156-8BCD-A910A5CAC1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BA9B50-C3B8-A8CC-61E3-884B176A5E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44ED6E68-D472-AD75-750F-8307447C63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6D5A020F-3966-C3F3-2EF6-AE95BC13DF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6E0FA5F-34C5-8BA6-D383-6451AB6BEA3E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A29FAAD-A2FB-0334-6AFE-84903BD26267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Formatting strings: f-strings</a:t>
            </a:r>
          </a:p>
          <a:p>
            <a:endParaRPr lang="en-GB" sz="2800" u="sng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Example: </a:t>
            </a:r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Embed variables directly using {} placeholders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DA2AA8-2B42-C870-859D-A137F4A2E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0" y="3181684"/>
            <a:ext cx="7239000" cy="316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213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C9C30-1FC6-5B20-5468-98446884A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54489-1C0B-390A-28DF-4868175BC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197610B9-151C-C516-6E1D-AFB1266E548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7F5ED60-9064-0141-2968-7342EA88C6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811018-006E-5C8D-FFD3-134AA38608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B6D0A3C0-9ABD-8EAA-9D5E-D71F7CD659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062D484B-06FA-D67B-A9E4-8EFB215592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2412FF9-7107-4E90-63D9-522D82C595F7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AB01677-1A62-C5F2-1CBF-86D1E37F13C7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Formatting strings: format()</a:t>
            </a:r>
          </a:p>
          <a:p>
            <a:endParaRPr lang="en-GB" sz="2800" u="sng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Example: </a:t>
            </a:r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Use placeholders {} and pass values positionally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ECD564-ED3A-3283-3460-CF5500476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506695"/>
            <a:ext cx="10493717" cy="222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8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C4C1B-99F7-4C43-73DD-45A70011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09820-4E3C-67EA-840C-63799FD14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1E0C0192-BCB7-E9ED-4A7B-9BA3FEF08A7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A483071-6ECA-B3E2-74E9-5327D9BB82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964AE4-9C83-FBE9-072F-E751E14A2F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2E2C67A2-B6FC-8A4A-B9FA-B93C02D61A9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582C726B-CEBA-AA86-03B8-E84BF901AF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0371A83-263C-B8B3-43F2-6BA65E859422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Strings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BFD3155-8C97-C7EF-0888-AAB996A919CE}"/>
              </a:ext>
            </a:extLst>
          </p:cNvPr>
          <p:cNvSpPr txBox="1">
            <a:spLocks/>
          </p:cNvSpPr>
          <p:nvPr/>
        </p:nvSpPr>
        <p:spPr>
          <a:xfrm>
            <a:off x="838200" y="2567941"/>
            <a:ext cx="10628086" cy="15684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Do problems 1, 2 ,3 and 4 of the strings chapter in your notebook!</a:t>
            </a:r>
            <a:endParaRPr lang="en-GB" sz="4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334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75ED6-A9FE-1663-8A97-E497D919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31C1-619B-6C70-2ADA-97317E37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C1E2A-3C5B-A193-E98C-BC927CC95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0BDB63-88C1-5716-3757-3E8D1B66D6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F6ADDA-39AA-F3D9-E287-F106286C57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FD2AD73B-BDF0-8CF0-70C5-0ABD2EE7A7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4DB690E7-8003-F705-1B79-C0EF2B90F6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8C6D6A8-5A3B-815F-51D1-B897FA986F8D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Lists and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6EFA8A3-5680-AB9C-C7D8-F5465909EDE9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Lists are used to store multiple items in a single variable.</a:t>
            </a:r>
          </a:p>
          <a:p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Example: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FB5D5D0-AF7C-2C6E-F8AD-70BFC62E8D3C}"/>
              </a:ext>
            </a:extLst>
          </p:cNvPr>
          <p:cNvSpPr txBox="1">
            <a:spLocks/>
          </p:cNvSpPr>
          <p:nvPr/>
        </p:nvSpPr>
        <p:spPr>
          <a:xfrm>
            <a:off x="2108625" y="2626130"/>
            <a:ext cx="7974750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Shopping list</a:t>
            </a:r>
            <a:endParaRPr lang="en-ES" sz="36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36868" name="Picture 4" descr="Bunch banana cartoon vector illustration. Fruit and food concept design  Flat style. isolated white background. Clip art icon design. 35524351  Vector Art at Vecteezy">
            <a:extLst>
              <a:ext uri="{FF2B5EF4-FFF2-40B4-BE49-F238E27FC236}">
                <a16:creationId xmlns:a16="http://schemas.microsoft.com/office/drawing/2014/main" id="{77FBB459-314D-9EAE-F01B-51DB667F7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967" y="3606392"/>
            <a:ext cx="1950757" cy="19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70" name="Picture 6" descr="Cartoon basket with many red apples on white background | Premium  AI-generated image">
            <a:extLst>
              <a:ext uri="{FF2B5EF4-FFF2-40B4-BE49-F238E27FC236}">
                <a16:creationId xmlns:a16="http://schemas.microsoft.com/office/drawing/2014/main" id="{11446CC2-74A4-1B30-0CBC-5240674A1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580" y="3606392"/>
            <a:ext cx="1950757" cy="19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76" name="Picture 12" descr="How to Draw a Chocolate Bar - Really Easy Drawing Tutorial">
            <a:extLst>
              <a:ext uri="{FF2B5EF4-FFF2-40B4-BE49-F238E27FC236}">
                <a16:creationId xmlns:a16="http://schemas.microsoft.com/office/drawing/2014/main" id="{70BDB999-DB55-175A-2E5E-2971D3788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193" y="3623085"/>
            <a:ext cx="1956627" cy="19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46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86001-3AA9-939F-9B2A-A0A3F9D6A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277C2-7D83-A596-AA54-BACFB0242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CDEC7-CA4B-D221-6B61-956940341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F401CD-549C-500F-19B8-E365A361F0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DA9030-09A0-C33D-E905-EBC7C52F8B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D62AA94F-EED4-4CE1-FF67-15C7853EE7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40AE437F-03FE-8936-376E-0C9B636D43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8509C24-3C25-8B91-59A7-C5D1543A806B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Lists and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604AC48-DECA-124C-0DC6-59E3EE3198CB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Lists are used to store multiple items in a single variable.</a:t>
            </a:r>
          </a:p>
          <a:p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Example: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90475D-4363-B529-9D81-015C76595165}"/>
              </a:ext>
            </a:extLst>
          </p:cNvPr>
          <p:cNvSpPr txBox="1">
            <a:spLocks/>
          </p:cNvSpPr>
          <p:nvPr/>
        </p:nvSpPr>
        <p:spPr>
          <a:xfrm>
            <a:off x="2414458" y="3292571"/>
            <a:ext cx="7974750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L = [“apple”, “banana”, “chocolate”]</a:t>
            </a:r>
            <a:endParaRPr lang="en-ES" sz="36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BDC6853-B63F-A2FE-7C3D-B92217C2B79D}"/>
              </a:ext>
            </a:extLst>
          </p:cNvPr>
          <p:cNvSpPr txBox="1">
            <a:spLocks/>
          </p:cNvSpPr>
          <p:nvPr/>
        </p:nvSpPr>
        <p:spPr>
          <a:xfrm>
            <a:off x="1072371" y="4471248"/>
            <a:ext cx="11127267" cy="20785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Ordered: Items have a defined order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Changeable: Can change, add, and remove items in a list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Allow duplicates</a:t>
            </a:r>
          </a:p>
        </p:txBody>
      </p:sp>
    </p:spTree>
    <p:extLst>
      <p:ext uri="{BB962C8B-B14F-4D97-AF65-F5344CB8AC3E}">
        <p14:creationId xmlns:p14="http://schemas.microsoft.com/office/powerpoint/2010/main" val="3089207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77BF6-7FB3-F6D9-92F1-24592746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EA526-C2F6-BE87-A0BA-1C8F5AC4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E041D-4D44-D102-9299-F1BA6F527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D67D1D-EF71-E40A-CB15-55B751CB3B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5B2ED89-929C-359C-D7E3-EA7970BB2A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7467983F-72BE-F167-A688-D0916EE677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9FA181AC-8B3F-8003-AA79-538C22D2B7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63DE578-2CAC-110C-5411-3D7CAF927F24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 data structure that stores information in key-value pairs. </a:t>
            </a:r>
            <a:endParaRPr lang="en-GB" sz="2800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Example: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4C9F6F-A8F4-3481-9098-DEA07FB942D3}"/>
              </a:ext>
            </a:extLst>
          </p:cNvPr>
          <p:cNvSpPr txBox="1">
            <a:spLocks/>
          </p:cNvSpPr>
          <p:nvPr/>
        </p:nvSpPr>
        <p:spPr>
          <a:xfrm>
            <a:off x="2693250" y="3305424"/>
            <a:ext cx="6805500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d = </a:t>
            </a:r>
            <a:r>
              <a:rPr lang="en-ES" sz="36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{</a:t>
            </a:r>
            <a:r>
              <a:rPr lang="en-ES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‘a’</a:t>
            </a:r>
            <a:r>
              <a:rPr lang="en-ES" sz="36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: </a:t>
            </a:r>
            <a:r>
              <a:rPr lang="en-ES" sz="3600" dirty="0">
                <a:solidFill>
                  <a:schemeClr val="accent4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10</a:t>
            </a:r>
            <a:r>
              <a:rPr lang="en-ES" sz="36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, </a:t>
            </a:r>
            <a:r>
              <a:rPr lang="en-ES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‘b’</a:t>
            </a:r>
            <a:r>
              <a:rPr lang="en-ES" sz="36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: </a:t>
            </a:r>
            <a:r>
              <a:rPr lang="en-ES" sz="3600" dirty="0">
                <a:solidFill>
                  <a:schemeClr val="accent4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20</a:t>
            </a:r>
            <a:r>
              <a:rPr lang="en-ES" sz="36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}</a:t>
            </a:r>
          </a:p>
        </p:txBody>
      </p:sp>
      <p:sp>
        <p:nvSpPr>
          <p:cNvPr id="13" name="Left Bracket 12">
            <a:extLst>
              <a:ext uri="{FF2B5EF4-FFF2-40B4-BE49-F238E27FC236}">
                <a16:creationId xmlns:a16="http://schemas.microsoft.com/office/drawing/2014/main" id="{F640532C-F45E-D47A-14A9-8BBE80269169}"/>
              </a:ext>
            </a:extLst>
          </p:cNvPr>
          <p:cNvSpPr/>
          <p:nvPr/>
        </p:nvSpPr>
        <p:spPr>
          <a:xfrm rot="5400000">
            <a:off x="5951285" y="2478539"/>
            <a:ext cx="170336" cy="1599549"/>
          </a:xfrm>
          <a:prstGeom prst="leftBracket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ED276E2-98AC-6F79-E80C-74E2EF4ABB50}"/>
              </a:ext>
            </a:extLst>
          </p:cNvPr>
          <p:cNvSpPr txBox="1">
            <a:spLocks/>
          </p:cNvSpPr>
          <p:nvPr/>
        </p:nvSpPr>
        <p:spPr>
          <a:xfrm>
            <a:off x="5463563" y="2613389"/>
            <a:ext cx="1145779" cy="60878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Key</a:t>
            </a:r>
            <a:endParaRPr lang="en-ES" sz="3600" dirty="0">
              <a:solidFill>
                <a:schemeClr val="accent5">
                  <a:lumMod val="60000"/>
                  <a:lumOff val="4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D1E5BE46-8130-8D70-6353-26EC0CEF37C5}"/>
              </a:ext>
            </a:extLst>
          </p:cNvPr>
          <p:cNvSpPr/>
          <p:nvPr/>
        </p:nvSpPr>
        <p:spPr>
          <a:xfrm rot="5400000" flipH="1">
            <a:off x="6788394" y="3113077"/>
            <a:ext cx="156705" cy="1599549"/>
          </a:xfrm>
          <a:prstGeom prst="leftBracke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3D75B38-39DF-F86F-8158-BD54A1F032D4}"/>
              </a:ext>
            </a:extLst>
          </p:cNvPr>
          <p:cNvSpPr txBox="1">
            <a:spLocks/>
          </p:cNvSpPr>
          <p:nvPr/>
        </p:nvSpPr>
        <p:spPr>
          <a:xfrm>
            <a:off x="6020630" y="4012468"/>
            <a:ext cx="1692232" cy="57612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600" dirty="0">
                <a:solidFill>
                  <a:schemeClr val="accent4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Value</a:t>
            </a:r>
            <a:endParaRPr lang="en-ES" sz="3600" dirty="0">
              <a:solidFill>
                <a:schemeClr val="accent4">
                  <a:lumMod val="75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F166F0B-FB8D-BB0C-1DE6-E46A3705DA95}"/>
              </a:ext>
            </a:extLst>
          </p:cNvPr>
          <p:cNvSpPr txBox="1">
            <a:spLocks/>
          </p:cNvSpPr>
          <p:nvPr/>
        </p:nvSpPr>
        <p:spPr>
          <a:xfrm>
            <a:off x="1072371" y="4471248"/>
            <a:ext cx="11127267" cy="20785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Unordered: Items stored without index value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Unique: Keys in dictionaries should be unique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Mutable: We can add/Modify/Remove key-value</a:t>
            </a:r>
          </a:p>
          <a:p>
            <a:pPr>
              <a:lnSpc>
                <a:spcPct val="150000"/>
              </a:lnSpc>
            </a:pP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8A18F62-8F72-DB20-8890-75966D358A8F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2.2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93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0748F-141E-7EA0-BBD4-708E0C2DB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D164-0194-1553-1330-8EDB37DBA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354A4-CD81-9924-A041-72C292D91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5ECCC-B06A-E66F-C8C8-72CD7CEBC0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B9E96A-BB85-F5F0-6408-251C66221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38DA03EE-ABCC-D11A-79C1-F8E409A528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CF44FAA8-8E1C-DB94-2F80-AADB4C0572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FF62A7D-B924-9BE6-B4B7-9BCCF4992B90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Creating a dictionary</a:t>
            </a:r>
          </a:p>
          <a:p>
            <a:endParaRPr lang="en-GB" sz="2800" u="sng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 dictionary is created by writing key-value pairs inside { }, where each key is connected to a value using colon (:). </a:t>
            </a:r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Example: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E5E716-926D-F2B3-E0C9-F4A0BB871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924" y="3651250"/>
            <a:ext cx="8628151" cy="238759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A105062-34FF-8D9A-1A8A-16DCD44193E5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2.2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6236E2-8A61-8052-7ABA-5DD20D8DD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539697"/>
              </p:ext>
            </p:extLst>
          </p:nvPr>
        </p:nvGraphicFramePr>
        <p:xfrm>
          <a:off x="8091728" y="544667"/>
          <a:ext cx="3069269" cy="191499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9462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1769807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</a:tblGrid>
              <a:tr h="410903">
                <a:tc gridSpan="2"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719081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785013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971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3DCE2-4E3C-04B0-009B-83D1E0B66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2B8DF-DA90-8DB9-734F-541CCAB18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1EA24-9A00-4C20-C4AB-88F447E85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E413AD-CE9E-CCF7-60E8-E77663D429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74A6363-5FEB-30BF-32DF-F795C69859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A2198F29-95CB-B1B7-57F8-CF4A82555F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EB2EAE73-07E9-1F99-231A-F103690B80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2855C82-46D8-66BD-E888-7599BC5F3490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Creating a dictionary</a:t>
            </a:r>
          </a:p>
          <a:p>
            <a:endParaRPr lang="en-GB" sz="2800" u="sng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 dictionary can also be created using the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dict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() function. </a:t>
            </a:r>
          </a:p>
          <a:p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Example: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6F3A9B-6E0D-25A1-6451-6A69E5971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349" y="3648357"/>
            <a:ext cx="8875301" cy="254987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FBE939-BC07-DDCF-5B7D-F5C264DB3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885908"/>
              </p:ext>
            </p:extLst>
          </p:nvPr>
        </p:nvGraphicFramePr>
        <p:xfrm>
          <a:off x="8091728" y="544667"/>
          <a:ext cx="3069269" cy="191499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9462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1769807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</a:tblGrid>
              <a:tr h="410903">
                <a:tc gridSpan="2"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719081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785013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DBAFA96A-408C-1417-45FE-4167DECEBC02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2.2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457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17A95-3225-6893-2044-8CA4C8E2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39376-DC58-B598-2232-7E803D569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37610-697B-D7B2-C060-ADE6B3D08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FF9272-FD73-3F38-9670-94DA489EFA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39A453-2960-1CFD-3C7D-8F0510EB13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A27F0CE5-85AD-E3CE-9E93-D3588C0D81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01A478FC-FD9C-2F86-39F6-E6BB03067F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2055B9F-D0AB-2B8C-8A91-66202AE72310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Accessing dictionary items</a:t>
            </a:r>
          </a:p>
          <a:p>
            <a:endParaRPr lang="en-GB" sz="2800" u="sng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 value in a dictionary is accessed by using its key. </a:t>
            </a:r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Example: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6F3A690-A4E9-0962-FD23-F44853836E7F}"/>
              </a:ext>
            </a:extLst>
          </p:cNvPr>
          <p:cNvSpPr txBox="1">
            <a:spLocks/>
          </p:cNvSpPr>
          <p:nvPr/>
        </p:nvSpPr>
        <p:spPr>
          <a:xfrm>
            <a:off x="474298" y="3512563"/>
            <a:ext cx="5557163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Option 1: square brackets [ 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544219D-5F95-3B2A-4062-C834F60EBC15}"/>
              </a:ext>
            </a:extLst>
          </p:cNvPr>
          <p:cNvSpPr txBox="1">
            <a:spLocks/>
          </p:cNvSpPr>
          <p:nvPr/>
        </p:nvSpPr>
        <p:spPr>
          <a:xfrm>
            <a:off x="6262137" y="3508598"/>
            <a:ext cx="5423934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Option 2: get() method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CA172E-E7D9-C91E-006C-845D58DDE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98" y="3953387"/>
            <a:ext cx="5557165" cy="15965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32765A-276C-1FC9-A4CA-9B0FA64D7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137" y="3953387"/>
            <a:ext cx="5423934" cy="155829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69B0960-93DC-0ACC-2AC8-E294EBBDE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885908"/>
              </p:ext>
            </p:extLst>
          </p:nvPr>
        </p:nvGraphicFramePr>
        <p:xfrm>
          <a:off x="8091728" y="544667"/>
          <a:ext cx="3069269" cy="191499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9462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1769807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</a:tblGrid>
              <a:tr h="410903">
                <a:tc gridSpan="2"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719081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785013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8F54028E-41EC-9B1E-66BD-0C27B128BD7C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2.2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43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A5208-27FF-0AEF-A976-2E5F8EA2A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25E02-2D3C-3494-367B-D7367F363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12565-CE5C-AB88-C932-AD78865F0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0CA035-3B17-4C01-EC1C-DCBA219C61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998B93-312D-A58B-5E1E-9F742F3A3F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3D28FB34-35C1-85C0-F88D-63CD3228AB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20E12499-97BF-CE47-E493-26192384C8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8235B1-3C86-E5C0-6F8E-0F8249D19AD0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Adding and Updating Dictionary Items</a:t>
            </a:r>
          </a:p>
          <a:p>
            <a:endParaRPr lang="en-GB" sz="2800" u="sng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New items are added to a dictionary using the assignment operator (=) by giving a new key a value. </a:t>
            </a:r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Example: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3662BE-A8DA-E515-1BE5-C287B9808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03" y="3651251"/>
            <a:ext cx="10129994" cy="245619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BF1FAF3-A724-A649-BB42-A5419F0E6921}"/>
              </a:ext>
            </a:extLst>
          </p:cNvPr>
          <p:cNvSpPr/>
          <p:nvPr/>
        </p:nvSpPr>
        <p:spPr>
          <a:xfrm>
            <a:off x="1031003" y="3651251"/>
            <a:ext cx="10129994" cy="24561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2B6AA4-0A45-296F-9510-D6C55C48AD2E}"/>
              </a:ext>
            </a:extLst>
          </p:cNvPr>
          <p:cNvSpPr txBox="1"/>
          <p:nvPr/>
        </p:nvSpPr>
        <p:spPr>
          <a:xfrm>
            <a:off x="1502228" y="4525405"/>
            <a:ext cx="9187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What will happen with an existing key?</a:t>
            </a:r>
            <a:endParaRPr lang="en-ES" sz="4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BE750F-5480-BE99-FFD9-9C1913744A1B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2.2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B0F092D-3966-E61B-5374-A2935764E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003279"/>
              </p:ext>
            </p:extLst>
          </p:nvPr>
        </p:nvGraphicFramePr>
        <p:xfrm>
          <a:off x="6925042" y="551312"/>
          <a:ext cx="4391691" cy="191499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9462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1769807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  <a:gridCol w="1322422">
                  <a:extLst>
                    <a:ext uri="{9D8B030D-6E8A-4147-A177-3AD203B41FA5}">
                      <a16:colId xmlns:a16="http://schemas.microsoft.com/office/drawing/2014/main" val="3551120859"/>
                    </a:ext>
                  </a:extLst>
                </a:gridCol>
              </a:tblGrid>
              <a:tr h="410903">
                <a:tc gridSpan="3"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719081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Wednesday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785013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UBDS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565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FDDBF-C617-1CCC-81F5-903BB5BBB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6D23A-CB97-0F62-BDD4-72D6DF8E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A8C3C-4C8C-EC81-825F-AEDC77DE8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73C484-E453-E866-2278-A1DD099F4F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E5529E-0E6F-6880-EBFC-BA9108E784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1C0002F1-6180-8EEF-8F6D-D747913D0C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F5542D98-6710-EF9C-C70C-D1795C5B70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E2152DE-F4B8-3744-10FE-7FBA5C768AD5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Adding and Updating Dictionary Items</a:t>
            </a:r>
          </a:p>
          <a:p>
            <a:endParaRPr lang="en-GB" sz="2800" u="sng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If an existing key is used with the assignment operator, its value is updated with the new one. </a:t>
            </a:r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Example: Let’s change Monday activity!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7A81DF-B92C-F95C-B02F-23FFDEC62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995" y="3617471"/>
            <a:ext cx="8842009" cy="267316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527141B-6CD9-ED1B-830D-6835A289AFB3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2.2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BF73920-FA1B-6E0A-B225-2B21D3DDF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890092"/>
              </p:ext>
            </p:extLst>
          </p:nvPr>
        </p:nvGraphicFramePr>
        <p:xfrm>
          <a:off x="8091728" y="544667"/>
          <a:ext cx="3069269" cy="191499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9462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1769807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</a:tblGrid>
              <a:tr h="410903">
                <a:tc gridSpan="2"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719081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785013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6812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66E15-E256-2D2E-9558-3CA42837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F121-7041-27F4-08C1-D3B93ED4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23DB4-949E-82C2-F5E7-833C4799F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2536F-9E78-7849-A2EE-86E87EFD7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C011F28-3A66-0BE0-1EF9-DFBF7908E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F7DD12D2-23E5-8900-DB94-9B0F97951D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E6CD6CE6-2C71-BD16-E64D-710BB542E2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8F2E8A8-89DD-DB34-CA46-9BD1173F5CAD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Removing Dictionary Items</a:t>
            </a:r>
          </a:p>
          <a:p>
            <a:endParaRPr lang="en-GB" sz="2800" u="sng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Dictionary items can be removed using built-in deletion methods that work on keys: </a:t>
            </a:r>
            <a:endParaRPr lang="en-GB" sz="2800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E01A288-71F8-8C05-251D-79A6220A28D2}"/>
              </a:ext>
            </a:extLst>
          </p:cNvPr>
          <p:cNvSpPr txBox="1">
            <a:spLocks/>
          </p:cNvSpPr>
          <p:nvPr/>
        </p:nvSpPr>
        <p:spPr>
          <a:xfrm>
            <a:off x="3201172" y="3521743"/>
            <a:ext cx="5557163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del: removes an item using its key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60ED85-B8DB-BE38-7724-EE2097E82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92" y="4032501"/>
            <a:ext cx="6734322" cy="225813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81F7F63-EEFC-DE6E-25A4-D196184F8753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2.2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5DE98DE-1864-DC7E-3F39-91BBEDE87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890092"/>
              </p:ext>
            </p:extLst>
          </p:nvPr>
        </p:nvGraphicFramePr>
        <p:xfrm>
          <a:off x="8091728" y="544667"/>
          <a:ext cx="3069269" cy="191499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9462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1769807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</a:tblGrid>
              <a:tr h="410903">
                <a:tc gridSpan="2"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719081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785013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861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88E85-9BDA-4669-1078-F2F3E377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130EA-B131-296D-C296-A8916E084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4F606-0D35-6430-3F6D-9B012E714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39AA5C-930E-BC29-3DDF-EEEEA5565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9ED208-EC25-A1E2-537E-7471F01490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9A0ABBDF-9F53-C2A6-2996-CAF8F63BBE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263294FC-FE1D-AC9E-1D31-A50B377110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27BA693-36DE-23BA-24CD-1C85BEB73A73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Removing Dictionary Items</a:t>
            </a:r>
          </a:p>
          <a:p>
            <a:endParaRPr lang="en-GB" sz="2800" u="sng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Dictionary items can be removed using built-in deletion methods that work on keys: </a:t>
            </a:r>
            <a:endParaRPr lang="en-GB" sz="2800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9EE6C1B-0DA1-B8A4-31E0-87CF1AF9F255}"/>
              </a:ext>
            </a:extLst>
          </p:cNvPr>
          <p:cNvSpPr txBox="1">
            <a:spLocks/>
          </p:cNvSpPr>
          <p:nvPr/>
        </p:nvSpPr>
        <p:spPr>
          <a:xfrm>
            <a:off x="838200" y="3521743"/>
            <a:ext cx="10478533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pop(): removes the item with the given key and returns its value</a:t>
            </a: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D6B5A9-BD9D-81D4-239F-B0D9BB4D2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92" y="4002476"/>
            <a:ext cx="6966816" cy="233609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B693370-1787-4E78-DF83-83B5C1310E5B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2.2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4FF5921-D1E8-A672-B746-5A91DB16D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890092"/>
              </p:ext>
            </p:extLst>
          </p:nvPr>
        </p:nvGraphicFramePr>
        <p:xfrm>
          <a:off x="8091728" y="544667"/>
          <a:ext cx="3069269" cy="191499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9462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1769807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</a:tblGrid>
              <a:tr h="410903">
                <a:tc gridSpan="2"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719081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785013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6234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64EC5-03A6-7777-A04A-CB637071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5689-12F3-5E6C-6EF5-CBEE415D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E76E0-6862-BA8D-69F4-1993C9FDF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CE609E-9BDF-F415-05B8-884AFFF56A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E5E5C33-0426-C657-EF46-B722DA0750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9335960A-DDEE-14C2-AC86-CD53FE33F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F3A65F3F-882C-0436-2510-D51FC541F8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073F8AA-2C8F-8864-107E-EC11F10E283F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Removing Dictionary Items</a:t>
            </a:r>
          </a:p>
          <a:p>
            <a:endParaRPr lang="en-GB" sz="2800" u="sng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Dictionary items can be removed using built-in deletion methods that work on keys: </a:t>
            </a:r>
            <a:endParaRPr lang="en-GB" sz="2800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FF16D63-68F6-DE83-9B59-A348360D14CF}"/>
              </a:ext>
            </a:extLst>
          </p:cNvPr>
          <p:cNvSpPr txBox="1">
            <a:spLocks/>
          </p:cNvSpPr>
          <p:nvPr/>
        </p:nvSpPr>
        <p:spPr>
          <a:xfrm>
            <a:off x="986971" y="3521743"/>
            <a:ext cx="10329762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popitem</a:t>
            </a:r>
            <a:r>
              <a:rPr lang="en-GB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(): removes and returns the last inserted key–value pair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C25C62-6D18-16B0-6AFF-3029185DE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92" y="4001294"/>
            <a:ext cx="6966816" cy="233609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2228636-03A2-D49D-0F2B-8CB7801A49D7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2.2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0218759-5994-AE69-ABFE-3C726BBD1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890092"/>
              </p:ext>
            </p:extLst>
          </p:nvPr>
        </p:nvGraphicFramePr>
        <p:xfrm>
          <a:off x="8091728" y="544667"/>
          <a:ext cx="3069269" cy="191499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9462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1769807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</a:tblGrid>
              <a:tr h="410903">
                <a:tc gridSpan="2"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719081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785013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0873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E1492-5D15-1961-7E9B-489F9037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20C79-368A-4C61-D7A9-25E92A92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67F4A-A08D-E229-799E-51536F1E6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76C7F9-C7DB-DF40-1758-6931FFC26D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736512F-A62B-37D5-0CBA-8EFEC9728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12D79C38-D373-8461-4042-521EF7DC1E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2CC10AB9-B8C3-C520-C15D-C2B5510025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3F445FE-29AA-79CC-8012-DF9311B24B1F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2.2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6177142-28CA-F7B2-B4A9-BE0C9CD8B8BC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Removing Dictionary Items</a:t>
            </a:r>
          </a:p>
          <a:p>
            <a:endParaRPr lang="en-GB" sz="2800" u="sng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Dictionary items can be removed using built-in deletion methods that work on keys: </a:t>
            </a:r>
            <a:endParaRPr lang="en-GB" sz="2800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24B9E7D-558B-21EE-DEE5-BC9EAD884C32}"/>
              </a:ext>
            </a:extLst>
          </p:cNvPr>
          <p:cNvSpPr txBox="1">
            <a:spLocks/>
          </p:cNvSpPr>
          <p:nvPr/>
        </p:nvSpPr>
        <p:spPr>
          <a:xfrm>
            <a:off x="1486933" y="3521743"/>
            <a:ext cx="9829800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clear(): removes all items from the dictionary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771ED4-1ECF-7B9C-775E-4F533A111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92" y="4001294"/>
            <a:ext cx="6966816" cy="233609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3FC208-CAF8-6ED7-2C3D-26B4B57D9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890092"/>
              </p:ext>
            </p:extLst>
          </p:nvPr>
        </p:nvGraphicFramePr>
        <p:xfrm>
          <a:off x="8091728" y="544667"/>
          <a:ext cx="3069269" cy="191499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9462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1769807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</a:tblGrid>
              <a:tr h="410903">
                <a:tc gridSpan="2"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719081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785013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0364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E2B86-5B46-4EEF-3B05-7571817C3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C5C8-48B1-B515-4C1A-1752340C8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8799A-0893-A7D6-63AB-D08076DF0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0A31B5-654E-9DF6-FA08-891789F33A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4D374F-8FBC-3960-41B9-E456B21FB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538D34AD-4758-C038-8FF8-C87E4E41AC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32B441BA-F858-D880-A038-CB7869EB03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578D3A3-178C-EA02-2AA1-549580AF9FB2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Nested dictionaries</a:t>
            </a:r>
          </a:p>
          <a:p>
            <a:endParaRPr lang="en-GB" sz="2800" u="sng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Dictionary that contains another dictionary as one of its values. </a:t>
            </a:r>
            <a:endParaRPr lang="en-GB" sz="2800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C7763CB-4240-5C10-893A-8ACC4A09611E}"/>
              </a:ext>
            </a:extLst>
          </p:cNvPr>
          <p:cNvSpPr/>
          <p:nvPr/>
        </p:nvSpPr>
        <p:spPr>
          <a:xfrm>
            <a:off x="1262743" y="3181684"/>
            <a:ext cx="3236686" cy="28562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6E287E-C923-6814-AF9F-A36E79D22FCC}"/>
              </a:ext>
            </a:extLst>
          </p:cNvPr>
          <p:cNvSpPr/>
          <p:nvPr/>
        </p:nvSpPr>
        <p:spPr>
          <a:xfrm>
            <a:off x="1762232" y="3887638"/>
            <a:ext cx="2264228" cy="4984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13E44A-BE88-0C40-33F1-F1AB2F70CD63}"/>
              </a:ext>
            </a:extLst>
          </p:cNvPr>
          <p:cNvSpPr/>
          <p:nvPr/>
        </p:nvSpPr>
        <p:spPr>
          <a:xfrm>
            <a:off x="1762232" y="4610283"/>
            <a:ext cx="2264228" cy="4984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5C6C10-86E9-F007-6F7D-6881F712B9C5}"/>
              </a:ext>
            </a:extLst>
          </p:cNvPr>
          <p:cNvSpPr/>
          <p:nvPr/>
        </p:nvSpPr>
        <p:spPr>
          <a:xfrm>
            <a:off x="1762232" y="5332928"/>
            <a:ext cx="2264228" cy="4984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6E6B9C0-7073-75BB-F191-4D97176D28DE}"/>
              </a:ext>
            </a:extLst>
          </p:cNvPr>
          <p:cNvSpPr txBox="1">
            <a:spLocks/>
          </p:cNvSpPr>
          <p:nvPr/>
        </p:nvSpPr>
        <p:spPr>
          <a:xfrm>
            <a:off x="1762231" y="3899017"/>
            <a:ext cx="2264229" cy="4870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Britannic Bold" panose="020B0903060703020204" pitchFamily="34" charset="77"/>
                <a:cs typeface="Biome" panose="020B0604020202020204" pitchFamily="34" charset="0"/>
              </a:rPr>
              <a:t>Monday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7C77F13-85E7-3432-591C-35545A705A19}"/>
              </a:ext>
            </a:extLst>
          </p:cNvPr>
          <p:cNvSpPr txBox="1">
            <a:spLocks/>
          </p:cNvSpPr>
          <p:nvPr/>
        </p:nvSpPr>
        <p:spPr>
          <a:xfrm>
            <a:off x="1748971" y="3267005"/>
            <a:ext cx="2264229" cy="4870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bg2"/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Keys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D087F0C-AFE4-6373-88DD-DABB4A9A5C5F}"/>
              </a:ext>
            </a:extLst>
          </p:cNvPr>
          <p:cNvSpPr txBox="1">
            <a:spLocks/>
          </p:cNvSpPr>
          <p:nvPr/>
        </p:nvSpPr>
        <p:spPr>
          <a:xfrm>
            <a:off x="1748970" y="4615972"/>
            <a:ext cx="2264229" cy="4870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Britannic Bold" panose="020B0903060703020204" pitchFamily="34" charset="77"/>
                <a:cs typeface="Biome" panose="020B0604020202020204" pitchFamily="34" charset="0"/>
              </a:rPr>
              <a:t>Tuesday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36BCCBB-05E4-D956-CC61-30C5E245E6E4}"/>
              </a:ext>
            </a:extLst>
          </p:cNvPr>
          <p:cNvSpPr txBox="1">
            <a:spLocks/>
          </p:cNvSpPr>
          <p:nvPr/>
        </p:nvSpPr>
        <p:spPr>
          <a:xfrm>
            <a:off x="1748969" y="5344307"/>
            <a:ext cx="2264229" cy="4870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Britannic Bold" panose="020B0903060703020204" pitchFamily="34" charset="77"/>
                <a:cs typeface="Biome" panose="020B0604020202020204" pitchFamily="34" charset="0"/>
              </a:rPr>
              <a:t>Wednesday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23AA5E1-98D1-DC0B-C7D5-49D92437F4DF}"/>
              </a:ext>
            </a:extLst>
          </p:cNvPr>
          <p:cNvSpPr/>
          <p:nvPr/>
        </p:nvSpPr>
        <p:spPr>
          <a:xfrm>
            <a:off x="5216699" y="3182153"/>
            <a:ext cx="3236686" cy="32745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85AF5E2-1C69-27DB-5BFF-88675AC004F3}"/>
              </a:ext>
            </a:extLst>
          </p:cNvPr>
          <p:cNvSpPr/>
          <p:nvPr/>
        </p:nvSpPr>
        <p:spPr>
          <a:xfrm>
            <a:off x="5412641" y="5174346"/>
            <a:ext cx="2823588" cy="126783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CE5519-569F-75EC-3F3E-1562BEE009CB}"/>
              </a:ext>
            </a:extLst>
          </p:cNvPr>
          <p:cNvSpPr/>
          <p:nvPr/>
        </p:nvSpPr>
        <p:spPr>
          <a:xfrm>
            <a:off x="5603425" y="3887638"/>
            <a:ext cx="2463236" cy="4984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5A155E-6601-671E-C3D9-2B8F923FC262}"/>
              </a:ext>
            </a:extLst>
          </p:cNvPr>
          <p:cNvSpPr/>
          <p:nvPr/>
        </p:nvSpPr>
        <p:spPr>
          <a:xfrm>
            <a:off x="5603424" y="4610283"/>
            <a:ext cx="2463237" cy="4984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DDE78C-1B1F-01F8-692A-4AF5B001A375}"/>
              </a:ext>
            </a:extLst>
          </p:cNvPr>
          <p:cNvSpPr/>
          <p:nvPr/>
        </p:nvSpPr>
        <p:spPr>
          <a:xfrm>
            <a:off x="5603425" y="5294428"/>
            <a:ext cx="2463236" cy="4984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891AB2C-72B3-9537-6F26-109E9D5C0E8D}"/>
              </a:ext>
            </a:extLst>
          </p:cNvPr>
          <p:cNvSpPr txBox="1">
            <a:spLocks/>
          </p:cNvSpPr>
          <p:nvPr/>
        </p:nvSpPr>
        <p:spPr>
          <a:xfrm>
            <a:off x="5716187" y="3899486"/>
            <a:ext cx="2264229" cy="4870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Britannic Bold" panose="020B0903060703020204" pitchFamily="34" charset="77"/>
                <a:cs typeface="Biome" panose="020B0604020202020204" pitchFamily="34" charset="0"/>
              </a:rPr>
              <a:t>Gym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02D0470-44A1-1DD7-E2E6-82E1C9613B8B}"/>
              </a:ext>
            </a:extLst>
          </p:cNvPr>
          <p:cNvSpPr txBox="1">
            <a:spLocks/>
          </p:cNvSpPr>
          <p:nvPr/>
        </p:nvSpPr>
        <p:spPr>
          <a:xfrm>
            <a:off x="5490653" y="4616441"/>
            <a:ext cx="2688772" cy="4870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Britannic Bold" panose="020B0903060703020204" pitchFamily="34" charset="77"/>
                <a:cs typeface="Biome" panose="020B0604020202020204" pitchFamily="34" charset="0"/>
              </a:rPr>
              <a:t>Bioinformatics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98F28000-E341-6ED5-38FB-777F5E83094C}"/>
              </a:ext>
            </a:extLst>
          </p:cNvPr>
          <p:cNvSpPr txBox="1">
            <a:spLocks/>
          </p:cNvSpPr>
          <p:nvPr/>
        </p:nvSpPr>
        <p:spPr>
          <a:xfrm>
            <a:off x="5702927" y="3267474"/>
            <a:ext cx="2264229" cy="4870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bg2"/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Values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F3CD1E74-F33F-47B3-28DE-AA35B4B4876A}"/>
              </a:ext>
            </a:extLst>
          </p:cNvPr>
          <p:cNvSpPr txBox="1">
            <a:spLocks/>
          </p:cNvSpPr>
          <p:nvPr/>
        </p:nvSpPr>
        <p:spPr>
          <a:xfrm>
            <a:off x="5702925" y="5344776"/>
            <a:ext cx="2264229" cy="4870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GB" sz="2800" dirty="0"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DE9226F-6DB4-CCE5-2D8C-D01425B56E68}"/>
              </a:ext>
            </a:extLst>
          </p:cNvPr>
          <p:cNvCxnSpPr>
            <a:cxnSpLocks/>
            <a:stCxn id="11" idx="3"/>
            <a:endCxn id="21" idx="1"/>
          </p:cNvCxnSpPr>
          <p:nvPr/>
        </p:nvCxnSpPr>
        <p:spPr>
          <a:xfrm>
            <a:off x="4026460" y="4136877"/>
            <a:ext cx="157696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DAEA82-DC50-AC00-9E42-3D1BE37B58BA}"/>
              </a:ext>
            </a:extLst>
          </p:cNvPr>
          <p:cNvCxnSpPr>
            <a:cxnSpLocks/>
          </p:cNvCxnSpPr>
          <p:nvPr/>
        </p:nvCxnSpPr>
        <p:spPr>
          <a:xfrm>
            <a:off x="4013198" y="4855334"/>
            <a:ext cx="157696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B31400A-BA9D-00C5-6364-D7F405956A0A}"/>
              </a:ext>
            </a:extLst>
          </p:cNvPr>
          <p:cNvCxnSpPr>
            <a:cxnSpLocks/>
          </p:cNvCxnSpPr>
          <p:nvPr/>
        </p:nvCxnSpPr>
        <p:spPr>
          <a:xfrm>
            <a:off x="4026460" y="5595563"/>
            <a:ext cx="138618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8FAFFA2-CC02-1FFA-1D69-EB776DF28217}"/>
              </a:ext>
            </a:extLst>
          </p:cNvPr>
          <p:cNvSpPr/>
          <p:nvPr/>
        </p:nvSpPr>
        <p:spPr>
          <a:xfrm>
            <a:off x="5616683" y="5856219"/>
            <a:ext cx="2449978" cy="4984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88A28D5A-26C6-438F-D140-2000937923F5}"/>
              </a:ext>
            </a:extLst>
          </p:cNvPr>
          <p:cNvSpPr txBox="1">
            <a:spLocks/>
          </p:cNvSpPr>
          <p:nvPr/>
        </p:nvSpPr>
        <p:spPr>
          <a:xfrm>
            <a:off x="5503915" y="5322782"/>
            <a:ext cx="2688772" cy="4870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Britannic Bold" panose="020B0903060703020204" pitchFamily="34" charset="77"/>
                <a:cs typeface="Biome" panose="020B0604020202020204" pitchFamily="34" charset="0"/>
              </a:rPr>
              <a:t>Morning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0AC2ED4-5E59-BF1C-5626-B1774E55CEEE}"/>
              </a:ext>
            </a:extLst>
          </p:cNvPr>
          <p:cNvSpPr txBox="1">
            <a:spLocks/>
          </p:cNvSpPr>
          <p:nvPr/>
        </p:nvSpPr>
        <p:spPr>
          <a:xfrm>
            <a:off x="5490653" y="5824074"/>
            <a:ext cx="2688772" cy="4870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Britannic Bold" panose="020B0903060703020204" pitchFamily="34" charset="77"/>
                <a:cs typeface="Biome" panose="020B0604020202020204" pitchFamily="34" charset="0"/>
              </a:rPr>
              <a:t>Afternoon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597D835-53F3-3C37-8CC8-AE44F2A088F2}"/>
              </a:ext>
            </a:extLst>
          </p:cNvPr>
          <p:cNvSpPr/>
          <p:nvPr/>
        </p:nvSpPr>
        <p:spPr>
          <a:xfrm>
            <a:off x="8890695" y="3267005"/>
            <a:ext cx="2823588" cy="170006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BB26E47-6162-ACCA-5A5B-BE6678374186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8066661" y="4136876"/>
            <a:ext cx="1007019" cy="140679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D934919A-3EF6-149F-B221-84A9F3222160}"/>
              </a:ext>
            </a:extLst>
          </p:cNvPr>
          <p:cNvSpPr/>
          <p:nvPr/>
        </p:nvSpPr>
        <p:spPr>
          <a:xfrm>
            <a:off x="9081479" y="3857810"/>
            <a:ext cx="2463236" cy="4984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4AEB5D5-BD5F-8E75-3C65-D7F3560D845E}"/>
              </a:ext>
            </a:extLst>
          </p:cNvPr>
          <p:cNvSpPr/>
          <p:nvPr/>
        </p:nvSpPr>
        <p:spPr>
          <a:xfrm>
            <a:off x="9073680" y="4394526"/>
            <a:ext cx="2463236" cy="4984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3E3E4757-D343-49ED-9D9A-687718DD94E1}"/>
              </a:ext>
            </a:extLst>
          </p:cNvPr>
          <p:cNvSpPr txBox="1">
            <a:spLocks/>
          </p:cNvSpPr>
          <p:nvPr/>
        </p:nvSpPr>
        <p:spPr>
          <a:xfrm>
            <a:off x="8981969" y="3886164"/>
            <a:ext cx="2688772" cy="4870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Britannic Bold" panose="020B0903060703020204" pitchFamily="34" charset="77"/>
                <a:cs typeface="Biome" panose="020B0604020202020204" pitchFamily="34" charset="0"/>
              </a:rPr>
              <a:t>Coding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E4E5CE0E-631A-0611-B140-908D3B344AD4}"/>
              </a:ext>
            </a:extLst>
          </p:cNvPr>
          <p:cNvSpPr txBox="1">
            <a:spLocks/>
          </p:cNvSpPr>
          <p:nvPr/>
        </p:nvSpPr>
        <p:spPr>
          <a:xfrm>
            <a:off x="8968707" y="4387456"/>
            <a:ext cx="2688772" cy="4870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Britannic Bold" panose="020B0903060703020204" pitchFamily="34" charset="77"/>
                <a:cs typeface="Biome" panose="020B0604020202020204" pitchFamily="34" charset="0"/>
              </a:rPr>
              <a:t>Basketball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71ED6BF-B7F1-E413-14EB-F083785FFF3B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8081874" y="4643765"/>
            <a:ext cx="991806" cy="143832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itle 1">
            <a:extLst>
              <a:ext uri="{FF2B5EF4-FFF2-40B4-BE49-F238E27FC236}">
                <a16:creationId xmlns:a16="http://schemas.microsoft.com/office/drawing/2014/main" id="{BE6426F0-C293-DED0-DF6C-77D9ADA8129C}"/>
              </a:ext>
            </a:extLst>
          </p:cNvPr>
          <p:cNvSpPr txBox="1">
            <a:spLocks/>
          </p:cNvSpPr>
          <p:nvPr/>
        </p:nvSpPr>
        <p:spPr>
          <a:xfrm>
            <a:off x="9194240" y="3275324"/>
            <a:ext cx="2264229" cy="4870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Britannic Bold" panose="020B0903060703020204" pitchFamily="34" charset="77"/>
                <a:cs typeface="Biome" panose="020B0604020202020204" pitchFamily="34" charset="0"/>
              </a:rPr>
              <a:t>Values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02D30959-90FB-B210-9DF6-9E9797251639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2.2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A1C75E-575A-E59D-8EDC-2E935B6BE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248755"/>
              </p:ext>
            </p:extLst>
          </p:nvPr>
        </p:nvGraphicFramePr>
        <p:xfrm>
          <a:off x="8091728" y="544667"/>
          <a:ext cx="3069269" cy="191499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9462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1769807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</a:tblGrid>
              <a:tr h="410903">
                <a:tc gridSpan="2"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719081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785013"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1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6573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F1A2-AE6E-FF44-930B-CB0CC4752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2765C-1EE0-9874-9490-FDC0C155F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FF090-FB27-0FF4-5D30-27D5A65C2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B00BE6-81BE-A409-72A8-FFA136BB58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90B70B2-D5A3-9FE3-0594-7244A79B75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FB4E0B87-8167-A725-F3E8-F83E0C7DFC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CC36B7B5-3416-8A1C-3707-98B04AE6B6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E71C283-566C-E882-FA6F-A90D2A3D1015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2.3 Sets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7FC7FD-A9F3-8702-C21D-25E49D2F7CB4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Sets</a:t>
            </a:r>
          </a:p>
          <a:p>
            <a:endParaRPr lang="en-GB" sz="2800" u="sng" dirty="0">
              <a:solidFill>
                <a:schemeClr val="tx2">
                  <a:lumMod val="50000"/>
                  <a:lumOff val="5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4880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DCC9B-D6C2-3631-4021-AFE6F5DF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72EAB-D735-CDAF-5AAA-353DB3AD6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0886C8B2-6E18-80D7-06C6-3E20D60BDD2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7624200-EF12-207C-4C57-093EF658F3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2ED3BF-E377-9090-F9E5-43E244BCD5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C26A4CB3-46B5-E113-E105-A4EBAFD0B7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0DD77D9C-2B45-5C16-89E8-4D931DD7DB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334AF79-45B8-547B-6140-7CC32FCCFCDA}"/>
              </a:ext>
            </a:extLst>
          </p:cNvPr>
          <p:cNvSpPr txBox="1">
            <a:spLocks/>
          </p:cNvSpPr>
          <p:nvPr/>
        </p:nvSpPr>
        <p:spPr>
          <a:xfrm>
            <a:off x="838200" y="2567941"/>
            <a:ext cx="10628086" cy="15684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Do problems 5, 6 ,7 and 8 of the strings chapter in your notebook!</a:t>
            </a:r>
            <a:endParaRPr lang="en-GB" sz="4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836DE5-C3BF-FFBA-F595-E7024FF02CA8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Lists and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0446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7570C-3421-A55B-DDF9-BC987CDC3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39B00-4561-91FA-A55E-D56EF1F0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61D92C7-9D4D-645A-C377-80E32C6676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1001746"/>
              </p:ext>
            </p:extLst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354A5BF-8464-D7C8-D16A-8D733B4697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C7A2971-5CED-8ADC-CBAE-F2559E985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F0D73691-FBF2-0F81-7B7B-21CB08CFF4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6B5CB761-8D55-9EE6-928D-12DF1CEAAE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DDC6C58-CEED-DA0B-9C40-74D31901D436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BFBDFB-FF2B-0067-ED6B-63917BFADFD8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Up to now we’ve seen that a calendar is a dictionary.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71A6D30-319B-507B-8891-A2A46E04A4E4}"/>
              </a:ext>
            </a:extLst>
          </p:cNvPr>
          <p:cNvSpPr txBox="1">
            <a:spLocks/>
          </p:cNvSpPr>
          <p:nvPr/>
        </p:nvSpPr>
        <p:spPr>
          <a:xfrm>
            <a:off x="931117" y="3528346"/>
            <a:ext cx="10329762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Could we check them one by one?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BB7B9F0-C36B-53CB-E018-FB9C901E4ED9}"/>
              </a:ext>
            </a:extLst>
          </p:cNvPr>
          <p:cNvSpPr txBox="1">
            <a:spLocks/>
          </p:cNvSpPr>
          <p:nvPr/>
        </p:nvSpPr>
        <p:spPr>
          <a:xfrm>
            <a:off x="838200" y="2280278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  <a:sym typeface="Wingdings" pitchFamily="2" charset="2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... But what happens when we want to know all the activities?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97F6FAD-AC50-D5A8-4CEA-49AC1F627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51937"/>
              </p:ext>
            </p:extLst>
          </p:nvPr>
        </p:nvGraphicFramePr>
        <p:xfrm>
          <a:off x="2032000" y="4209129"/>
          <a:ext cx="8127999" cy="218782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51120859"/>
                    </a:ext>
                  </a:extLst>
                </a:gridCol>
              </a:tblGrid>
              <a:tr h="685598">
                <a:tc gridSpan="3"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537882"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Wednesday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964341"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Basketball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252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8D95F-79E4-9B13-1803-E53569190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95832-755D-37EC-6CB2-4A1807932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D7C0DBE-A167-C7FB-4029-D33AE6CAEE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89CD103-5A18-F595-A854-B24CF66937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AB73BB-A35F-4C77-3BBE-7F31C20D1F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78D18D6F-0F24-A49F-8957-F99DE2958A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15842C8A-E993-66C6-D203-C7292822E4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1CD5349-C905-DAE5-3C33-1171580BE894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ECB898-58FB-2B99-99D2-7F414F24F54C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How would you do it?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23E6729-8F9B-328A-00A0-B37D3268F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354416"/>
              </p:ext>
            </p:extLst>
          </p:nvPr>
        </p:nvGraphicFramePr>
        <p:xfrm>
          <a:off x="2032000" y="4209129"/>
          <a:ext cx="8127999" cy="218782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51120859"/>
                    </a:ext>
                  </a:extLst>
                </a:gridCol>
              </a:tblGrid>
              <a:tr h="685598">
                <a:tc gridSpan="3"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537882"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Wednesday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964341"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Basketball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964D7828-931C-DCA3-E5CB-6F9ED7E24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52" y="2582821"/>
            <a:ext cx="3973232" cy="1292952"/>
          </a:xfrm>
          <a:prstGeom prst="rect">
            <a:avLst/>
          </a:prstGeom>
        </p:spPr>
      </p:pic>
      <p:sp>
        <p:nvSpPr>
          <p:cNvPr id="16" name="Cross 15">
            <a:extLst>
              <a:ext uri="{FF2B5EF4-FFF2-40B4-BE49-F238E27FC236}">
                <a16:creationId xmlns:a16="http://schemas.microsoft.com/office/drawing/2014/main" id="{76ED916B-542C-8FA2-C9C3-73E5D1481D54}"/>
              </a:ext>
            </a:extLst>
          </p:cNvPr>
          <p:cNvSpPr/>
          <p:nvPr/>
        </p:nvSpPr>
        <p:spPr>
          <a:xfrm rot="18938427">
            <a:off x="1560064" y="2303392"/>
            <a:ext cx="1807688" cy="1775211"/>
          </a:xfrm>
          <a:prstGeom prst="plus">
            <a:avLst>
              <a:gd name="adj" fmla="val 40117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DB4BB533-6A68-B183-B9C7-2610877AD248}"/>
              </a:ext>
            </a:extLst>
          </p:cNvPr>
          <p:cNvSpPr/>
          <p:nvPr/>
        </p:nvSpPr>
        <p:spPr>
          <a:xfrm>
            <a:off x="4708538" y="2861544"/>
            <a:ext cx="795829" cy="65890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F5F7BE7-76A2-30A7-9C68-8B3B02566F4D}"/>
              </a:ext>
            </a:extLst>
          </p:cNvPr>
          <p:cNvSpPr txBox="1">
            <a:spLocks/>
          </p:cNvSpPr>
          <p:nvPr/>
        </p:nvSpPr>
        <p:spPr>
          <a:xfrm>
            <a:off x="5504367" y="2582821"/>
            <a:ext cx="6032781" cy="1292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We need to </a:t>
            </a:r>
            <a:r>
              <a:rPr lang="en-GB" sz="3200" b="1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ITERATE</a:t>
            </a:r>
            <a:r>
              <a:rPr lang="en-GB" sz="32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through the items of this calendar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9088989-9255-AB67-F483-DB5F9EBCF3C6}"/>
              </a:ext>
            </a:extLst>
          </p:cNvPr>
          <p:cNvGrpSpPr/>
          <p:nvPr/>
        </p:nvGrpSpPr>
        <p:grpSpPr>
          <a:xfrm>
            <a:off x="4820167" y="1864144"/>
            <a:ext cx="1379880" cy="866160"/>
            <a:chOff x="4820167" y="1864144"/>
            <a:chExt cx="1379880" cy="8661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BA089AB-F12F-AFE3-8654-92541F7202FF}"/>
                    </a:ext>
                  </a:extLst>
                </p14:cNvPr>
                <p14:cNvContentPartPr/>
                <p14:nvPr/>
              </p14:nvContentPartPr>
              <p14:xfrm>
                <a:off x="4820167" y="2131984"/>
                <a:ext cx="1379880" cy="598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BA089AB-F12F-AFE3-8654-92541F7202F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57527" y="1753984"/>
                  <a:ext cx="1505520" cy="13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3283983-FF7B-3B14-8F66-3C17107564ED}"/>
                    </a:ext>
                  </a:extLst>
                </p14:cNvPr>
                <p14:cNvContentPartPr/>
                <p14:nvPr/>
              </p14:nvContentPartPr>
              <p14:xfrm>
                <a:off x="5890807" y="1864144"/>
                <a:ext cx="243720" cy="318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3283983-FF7B-3B14-8F66-3C17107564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27807" y="1486144"/>
                  <a:ext cx="369360" cy="10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155478B-1764-2885-67E9-4257D820DBF2}"/>
                    </a:ext>
                  </a:extLst>
                </p14:cNvPr>
                <p14:cNvContentPartPr/>
                <p14:nvPr/>
              </p14:nvContentPartPr>
              <p14:xfrm>
                <a:off x="5867047" y="2139544"/>
                <a:ext cx="264960" cy="364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155478B-1764-2885-67E9-4257D820DBF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04407" y="1761544"/>
                  <a:ext cx="390600" cy="1120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3" name="Title 1">
            <a:extLst>
              <a:ext uri="{FF2B5EF4-FFF2-40B4-BE49-F238E27FC236}">
                <a16:creationId xmlns:a16="http://schemas.microsoft.com/office/drawing/2014/main" id="{CD2FC072-ED25-0D23-E57A-7D611CD17593}"/>
              </a:ext>
            </a:extLst>
          </p:cNvPr>
          <p:cNvSpPr txBox="1">
            <a:spLocks/>
          </p:cNvSpPr>
          <p:nvPr/>
        </p:nvSpPr>
        <p:spPr>
          <a:xfrm>
            <a:off x="6161501" y="1796232"/>
            <a:ext cx="2989012" cy="6118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C00000"/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NOT SCALABLE!</a:t>
            </a:r>
          </a:p>
        </p:txBody>
      </p:sp>
    </p:spTree>
    <p:extLst>
      <p:ext uri="{BB962C8B-B14F-4D97-AF65-F5344CB8AC3E}">
        <p14:creationId xmlns:p14="http://schemas.microsoft.com/office/powerpoint/2010/main" val="73937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5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35B09-3B9E-479E-FC34-101118CD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1920-62F1-41DD-BEC1-CD7770069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03D0C1B-2F07-D4CD-602B-634D46CA72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FC6B1A3-B402-BC31-42C7-C7D6FED08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2113FB-05AE-8DDA-28F1-C80C260F12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49429ACF-10BB-0984-55DB-C4ED387067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832F6261-2533-5BD9-1D39-E13AE84F45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26E49E7-01D7-C234-0E73-3705ECBCF225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6A7F41-DC57-58D2-7A66-D76FF0FE1A6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209129"/>
          <a:ext cx="8127999" cy="218782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51120859"/>
                    </a:ext>
                  </a:extLst>
                </a:gridCol>
              </a:tblGrid>
              <a:tr h="685598">
                <a:tc gridSpan="3"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537882"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Wednesday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964341"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Basketball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  <p:sp>
        <p:nvSpPr>
          <p:cNvPr id="3" name="Curved Up Arrow 2">
            <a:extLst>
              <a:ext uri="{FF2B5EF4-FFF2-40B4-BE49-F238E27FC236}">
                <a16:creationId xmlns:a16="http://schemas.microsoft.com/office/drawing/2014/main" id="{D7F72449-EA36-8B56-DB6C-89230A232311}"/>
              </a:ext>
            </a:extLst>
          </p:cNvPr>
          <p:cNvSpPr/>
          <p:nvPr/>
        </p:nvSpPr>
        <p:spPr>
          <a:xfrm>
            <a:off x="3536576" y="4025724"/>
            <a:ext cx="2312895" cy="734546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1"/>
              </a:solidFill>
            </a:endParaRPr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D77E2BC5-A3DC-6912-AEE9-8E7571A5B601}"/>
              </a:ext>
            </a:extLst>
          </p:cNvPr>
          <p:cNvSpPr/>
          <p:nvPr/>
        </p:nvSpPr>
        <p:spPr>
          <a:xfrm>
            <a:off x="6353615" y="4042119"/>
            <a:ext cx="2312895" cy="734546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1"/>
              </a:solidFill>
            </a:endParaRPr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3B9FE712-2618-E833-134B-A0ACA2905855}"/>
              </a:ext>
            </a:extLst>
          </p:cNvPr>
          <p:cNvSpPr/>
          <p:nvPr/>
        </p:nvSpPr>
        <p:spPr>
          <a:xfrm>
            <a:off x="719536" y="4024418"/>
            <a:ext cx="2312895" cy="734546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1"/>
              </a:solidFill>
            </a:endParaRPr>
          </a:p>
        </p:txBody>
      </p:sp>
      <p:sp>
        <p:nvSpPr>
          <p:cNvPr id="19" name="Curved Up Arrow 18">
            <a:extLst>
              <a:ext uri="{FF2B5EF4-FFF2-40B4-BE49-F238E27FC236}">
                <a16:creationId xmlns:a16="http://schemas.microsoft.com/office/drawing/2014/main" id="{98EDB258-53D2-05FC-8546-69A5FBA6A80B}"/>
              </a:ext>
            </a:extLst>
          </p:cNvPr>
          <p:cNvSpPr/>
          <p:nvPr/>
        </p:nvSpPr>
        <p:spPr>
          <a:xfrm>
            <a:off x="9159571" y="4043425"/>
            <a:ext cx="2312895" cy="734546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932D512-7B7A-FDB7-BFFB-1757628AA164}"/>
              </a:ext>
            </a:extLst>
          </p:cNvPr>
          <p:cNvSpPr/>
          <p:nvPr/>
        </p:nvSpPr>
        <p:spPr>
          <a:xfrm>
            <a:off x="1367984" y="4866540"/>
            <a:ext cx="1016000" cy="96819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5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06EC202-102C-5500-BE45-A92D5F065A47}"/>
              </a:ext>
            </a:extLst>
          </p:cNvPr>
          <p:cNvSpPr/>
          <p:nvPr/>
        </p:nvSpPr>
        <p:spPr>
          <a:xfrm>
            <a:off x="4185023" y="4818944"/>
            <a:ext cx="1016000" cy="96819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5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0631A23-3218-E8AC-27F7-9FB4DAADA71C}"/>
              </a:ext>
            </a:extLst>
          </p:cNvPr>
          <p:cNvSpPr/>
          <p:nvPr/>
        </p:nvSpPr>
        <p:spPr>
          <a:xfrm>
            <a:off x="7002062" y="4818944"/>
            <a:ext cx="1016000" cy="96819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5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6AF46EC-6252-DF36-AAA7-41F9895C4C20}"/>
              </a:ext>
            </a:extLst>
          </p:cNvPr>
          <p:cNvSpPr/>
          <p:nvPr/>
        </p:nvSpPr>
        <p:spPr>
          <a:xfrm>
            <a:off x="9808015" y="4818944"/>
            <a:ext cx="1016000" cy="96819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5400" dirty="0">
                <a:solidFill>
                  <a:schemeClr val="tx1"/>
                </a:solidFill>
              </a:rPr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8409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199"/>
    </mc:Choice>
    <mc:Fallback>
      <p:transition spd="slow" advTm="221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0 -0.35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BFCC-37E2-D8D7-43CE-423CFE81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D7773-AA83-7D09-F99E-31133FB02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734BC26-C81B-FA3A-6C12-AF215AA166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5CE5BFC-A882-2988-984C-23AAB2C3B4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06F8293-665E-FBF4-1EC5-F4CC8B605F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6025B2FE-6BE9-8AAF-5236-638DA6074F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7B569826-1AD6-748E-B624-7EB565C99B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CAE16D2-0454-834F-BAB2-AB629625198B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B24486E-EEEC-5BF0-6A61-5A124428B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742524"/>
              </p:ext>
            </p:extLst>
          </p:nvPr>
        </p:nvGraphicFramePr>
        <p:xfrm>
          <a:off x="2032000" y="1815556"/>
          <a:ext cx="8127999" cy="218782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51120859"/>
                    </a:ext>
                  </a:extLst>
                </a:gridCol>
              </a:tblGrid>
              <a:tr h="685598">
                <a:tc gridSpan="3"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537882"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Wednesday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964341"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Basketball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7686675D-2B95-C2AF-EA74-31DD5FC34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42" y="4131483"/>
            <a:ext cx="4831808" cy="222101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7FA796E-F162-411F-C91F-A2686764E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41" y="4128245"/>
            <a:ext cx="4831808" cy="222101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A90F043-8EB8-106F-CCBD-97FD20CB1C78}"/>
              </a:ext>
            </a:extLst>
          </p:cNvPr>
          <p:cNvSpPr/>
          <p:nvPr/>
        </p:nvSpPr>
        <p:spPr>
          <a:xfrm>
            <a:off x="1014127" y="5539624"/>
            <a:ext cx="2979649" cy="73958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0BCE6F52-E9DE-DDE5-992A-4732FABB2D36}"/>
              </a:ext>
            </a:extLst>
          </p:cNvPr>
          <p:cNvSpPr/>
          <p:nvPr/>
        </p:nvSpPr>
        <p:spPr>
          <a:xfrm>
            <a:off x="5930153" y="4840941"/>
            <a:ext cx="968188" cy="698683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4CBF7B6-2EC8-C9FB-5FFC-16A4A744C03B}"/>
              </a:ext>
            </a:extLst>
          </p:cNvPr>
          <p:cNvSpPr txBox="1">
            <a:spLocks/>
          </p:cNvSpPr>
          <p:nvPr/>
        </p:nvSpPr>
        <p:spPr>
          <a:xfrm>
            <a:off x="6898340" y="4526636"/>
            <a:ext cx="4034119" cy="1292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What will this print?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886AE0-B5DF-F135-DBFF-F7385F1E66BB}"/>
              </a:ext>
            </a:extLst>
          </p:cNvPr>
          <p:cNvSpPr/>
          <p:nvPr/>
        </p:nvSpPr>
        <p:spPr>
          <a:xfrm>
            <a:off x="2032000" y="2501153"/>
            <a:ext cx="8127999" cy="551329"/>
          </a:xfrm>
          <a:prstGeom prst="rect">
            <a:avLst/>
          </a:prstGeom>
          <a:solidFill>
            <a:schemeClr val="tx2">
              <a:lumMod val="10000"/>
              <a:lumOff val="90000"/>
              <a:alpha val="6539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26" name="Curved Right Arrow 25">
            <a:extLst>
              <a:ext uri="{FF2B5EF4-FFF2-40B4-BE49-F238E27FC236}">
                <a16:creationId xmlns:a16="http://schemas.microsoft.com/office/drawing/2014/main" id="{863C0E51-4BF8-A960-8669-39D834044B34}"/>
              </a:ext>
            </a:extLst>
          </p:cNvPr>
          <p:cNvSpPr/>
          <p:nvPr/>
        </p:nvSpPr>
        <p:spPr>
          <a:xfrm rot="20768984" flipH="1" flipV="1">
            <a:off x="10529534" y="2328627"/>
            <a:ext cx="1096251" cy="2807125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12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EBDC-7A58-0E66-3376-1035AD24B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D77D-C42F-493C-A870-299EDE246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A030631-1B6F-F8C0-EEA2-6825CD9961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36CACBF-4F7F-4D2C-4FDF-3455E52128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26ABCB-8B95-7A11-5190-78FB9BBD74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B905081D-FF3E-7843-0C76-2DB298DBA7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3265DD34-061B-8B15-4065-C4F4D7668C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34ED14F-B0B4-89FE-35F3-D78913DD615C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FA4F702-949C-EC52-805F-82EC45C8B345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815556"/>
          <a:ext cx="8127999" cy="218782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20592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96213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51120859"/>
                    </a:ext>
                  </a:extLst>
                </a:gridCol>
              </a:tblGrid>
              <a:tr h="685598">
                <a:tc gridSpan="3"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Calendar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46794"/>
                  </a:ext>
                </a:extLst>
              </a:tr>
              <a:tr h="537882"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Monday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bg1"/>
                          </a:solidFill>
                          <a:latin typeface="Britannic Bold" panose="020B0903060703020204" pitchFamily="34" charset="77"/>
                        </a:rPr>
                        <a:t>Wednesday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02156"/>
                  </a:ext>
                </a:extLst>
              </a:tr>
              <a:tr h="964341"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Gym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Bioinformatics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80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Britannic Bold" panose="020B0903060703020204" pitchFamily="34" charset="77"/>
                        </a:rPr>
                        <a:t>Basketball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01198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3207C71-7323-2AA7-6B2F-688DA7E45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42" y="4128245"/>
            <a:ext cx="4831808" cy="222101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4298D81-D411-6EA0-DC6B-298D921D240E}"/>
              </a:ext>
            </a:extLst>
          </p:cNvPr>
          <p:cNvSpPr/>
          <p:nvPr/>
        </p:nvSpPr>
        <p:spPr>
          <a:xfrm>
            <a:off x="1014127" y="5539624"/>
            <a:ext cx="3545680" cy="73958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60DB262A-014E-B42A-2200-4E019CB53CDD}"/>
              </a:ext>
            </a:extLst>
          </p:cNvPr>
          <p:cNvSpPr/>
          <p:nvPr/>
        </p:nvSpPr>
        <p:spPr>
          <a:xfrm>
            <a:off x="5930153" y="4840941"/>
            <a:ext cx="968188" cy="698683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50DB792-F3A1-E5E2-D342-93B4A4769D77}"/>
              </a:ext>
            </a:extLst>
          </p:cNvPr>
          <p:cNvSpPr txBox="1">
            <a:spLocks/>
          </p:cNvSpPr>
          <p:nvPr/>
        </p:nvSpPr>
        <p:spPr>
          <a:xfrm>
            <a:off x="6898340" y="4526636"/>
            <a:ext cx="1912705" cy="1292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And this?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4A0376-7CD2-1A2C-57DF-A70988DF9489}"/>
              </a:ext>
            </a:extLst>
          </p:cNvPr>
          <p:cNvSpPr/>
          <p:nvPr/>
        </p:nvSpPr>
        <p:spPr>
          <a:xfrm>
            <a:off x="2032000" y="3039771"/>
            <a:ext cx="8127999" cy="969957"/>
          </a:xfrm>
          <a:prstGeom prst="rect">
            <a:avLst/>
          </a:prstGeom>
          <a:solidFill>
            <a:schemeClr val="tx2">
              <a:lumMod val="10000"/>
              <a:lumOff val="90000"/>
              <a:alpha val="6539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19" name="Curved Right Arrow 18">
            <a:extLst>
              <a:ext uri="{FF2B5EF4-FFF2-40B4-BE49-F238E27FC236}">
                <a16:creationId xmlns:a16="http://schemas.microsoft.com/office/drawing/2014/main" id="{12075EE8-B675-FDD0-EA55-7BEF9672E0F9}"/>
              </a:ext>
            </a:extLst>
          </p:cNvPr>
          <p:cNvSpPr/>
          <p:nvPr/>
        </p:nvSpPr>
        <p:spPr>
          <a:xfrm flipH="1" flipV="1">
            <a:off x="10181391" y="3230566"/>
            <a:ext cx="1096251" cy="210552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03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1865B-7B8C-BD3B-3AC2-B0181C0F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281D5-ACC3-3EB0-0C47-1730B33DD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AA5B0FB-E000-075D-8F3A-5E8D00BBA3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DD96CD6-7E90-528F-7E18-52D72F28FC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70F24D-78D2-BC47-6D5C-E5C7BDA663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75347052-319C-FDC5-E2E5-7A6AD1C0C2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BD1AE18D-0146-7FCF-09AE-47A60EE3BD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CA91DEC-A972-0ACE-2D79-709440F868A0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620285B-0E14-F8D7-9232-47F987996CF3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ADD .ITEMS() ITERATION!!!</a:t>
            </a:r>
          </a:p>
        </p:txBody>
      </p:sp>
    </p:spTree>
    <p:extLst>
      <p:ext uri="{BB962C8B-B14F-4D97-AF65-F5344CB8AC3E}">
        <p14:creationId xmlns:p14="http://schemas.microsoft.com/office/powerpoint/2010/main" val="15912586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0B6DF-6E25-2F8D-797D-88AC5CB78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8FBAF-A8FE-1ADB-3AA8-7309A01EA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9D6D6A3-4230-D21D-9836-EC9885ADE1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778F0E9-DCF6-2969-091C-1CEB28819F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CE11D6-D9EF-EFA2-4358-B900878A8E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FB9CBBED-475D-69E5-5244-F41E9ACEFF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39FF7DBF-F127-3647-DA35-58CBAE5CEC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3B1D0DD-DF29-6055-B87D-DDE70DF7888E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7CD2BC-7902-08C5-0BFC-2DD58B985C71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We can use </a:t>
            </a:r>
            <a:r>
              <a:rPr lang="en-GB" sz="2800" dirty="0">
                <a:solidFill>
                  <a:schemeClr val="accent4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for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loops with lists and strings also!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Example: </a:t>
            </a:r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Iterating through a list of elements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C5B803-BE73-EF09-61F7-42CDC5BC7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874" y="3123573"/>
            <a:ext cx="5696248" cy="328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964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63889-63A7-87A0-3198-12736514E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B0EFB-AECC-9764-AE5E-722150AD9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35D3BD5-6970-BC3D-EDE2-DB192FB339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9418F6A-05CD-5F88-2E45-AE26C9AED7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9351397-9EE4-ECE1-D188-D6C8B92AF1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1AFA2337-EBB3-05EC-75D4-B9BE16242A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CF3F9B56-3A0A-3630-33D1-0E2A9FADB4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B7058A8-FD40-EF1B-5BEB-526E7D43611B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26C06A-06B9-B370-8839-F6AA63ABBCFC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We can use </a:t>
            </a:r>
            <a:r>
              <a:rPr lang="en-GB" sz="2800" dirty="0">
                <a:solidFill>
                  <a:schemeClr val="accent4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for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loops for lists and strings also!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Example: </a:t>
            </a:r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Iterating through a list of elements using the index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943106-F539-7C37-CC16-5DB32E9FE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305" y="3153844"/>
            <a:ext cx="5594958" cy="312747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598BBB7-08E6-EF4E-4A36-AEA581664635}"/>
              </a:ext>
            </a:extLst>
          </p:cNvPr>
          <p:cNvSpPr txBox="1">
            <a:spLocks/>
          </p:cNvSpPr>
          <p:nvPr/>
        </p:nvSpPr>
        <p:spPr>
          <a:xfrm>
            <a:off x="6888576" y="3153843"/>
            <a:ext cx="4034119" cy="3127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This code iterates through each element of the list using its index and prints each element one by one. The range(</a:t>
            </a:r>
            <a:r>
              <a:rPr lang="en-GB" sz="24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len</a:t>
            </a:r>
            <a:r>
              <a:rPr lang="en-GB" sz="24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(list)) generates indices from 0 to the length of the list minus 1.</a:t>
            </a:r>
          </a:p>
        </p:txBody>
      </p:sp>
    </p:spTree>
    <p:extLst>
      <p:ext uri="{BB962C8B-B14F-4D97-AF65-F5344CB8AC3E}">
        <p14:creationId xmlns:p14="http://schemas.microsoft.com/office/powerpoint/2010/main" val="29655830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65478-5EF3-C17B-5927-F923EC194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9C834-900B-B20A-127B-23A5A013F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BDB7F2D-BA42-4480-02A2-8FE83CAD6E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52D17CF-53C2-9E0B-42A2-506372531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E6AA792-A3F8-8CA1-DCED-895AC9E485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3BBC6BF4-0B91-DF61-1315-652493CB18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A8684828-8B40-A5D5-DE45-D97D91D8EE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09FF2F1-EA48-C550-BD13-39616DBCB539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D0C4925-5913-721C-0392-0C1B876DBAEF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In python there are also </a:t>
            </a:r>
            <a:r>
              <a:rPr lang="en-GB" sz="2800" dirty="0">
                <a:solidFill>
                  <a:schemeClr val="accent4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while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loops. They are used to execute a block of statements repeatedly until a given condition is satisfied. When the condition becomes </a:t>
            </a:r>
            <a:r>
              <a:rPr lang="en-GB" sz="2800" dirty="0">
                <a:solidFill>
                  <a:srgbClr val="C00000"/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false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, the line immediately after the loop in the program is executed.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Example: </a:t>
            </a:r>
          </a:p>
          <a:p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Iterating until the</a:t>
            </a:r>
          </a:p>
          <a:p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counter reaches </a:t>
            </a:r>
          </a:p>
          <a:p>
            <a:r>
              <a:rPr lang="en-GB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three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47AD86-B495-39B4-1972-C8E248C8A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509" y="3414085"/>
            <a:ext cx="4966716" cy="304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3549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7DE95-6D79-BFC9-73AD-E69F48F54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CCEFF-1882-AA10-ADF1-8617A7D04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49C0592-F360-32DD-3280-4372D168B95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B46F17A-C462-224A-0BAF-FD66FE6050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CAA627C-2141-E226-B72E-A4B511C76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F9D180DE-A503-E43F-D379-B365E242F2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74306D63-D59F-D6AD-26DF-EC7C1AD3CD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BEA588B-EA98-A5C4-289A-7E66A5D06569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520EA20-36EB-0D0B-B632-D8AB941D6708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accent4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While</a:t>
            </a:r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loop in detail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393FBA-FB96-2DD5-AC44-A1DCED1EF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38" y="2350919"/>
            <a:ext cx="5521094" cy="338222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6A4C739-8A93-0D87-E4FB-D2D1B8D61716}"/>
              </a:ext>
            </a:extLst>
          </p:cNvPr>
          <p:cNvSpPr/>
          <p:nvPr/>
        </p:nvSpPr>
        <p:spPr>
          <a:xfrm>
            <a:off x="6081489" y="2179477"/>
            <a:ext cx="609600" cy="59020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21AF5F0-47D0-98E1-2F32-60D64FDE3C3C}"/>
              </a:ext>
            </a:extLst>
          </p:cNvPr>
          <p:cNvSpPr txBox="1">
            <a:spLocks/>
          </p:cNvSpPr>
          <p:nvPr/>
        </p:nvSpPr>
        <p:spPr>
          <a:xfrm>
            <a:off x="6687731" y="1758326"/>
            <a:ext cx="5477613" cy="14205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Iteration: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cnt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= 0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 We add 1 to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cnt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 =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cnt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(0)+1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 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Hello Guys is printed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D07102-33FE-8DB1-C12E-4431964E8A68}"/>
              </a:ext>
            </a:extLst>
          </p:cNvPr>
          <p:cNvSpPr/>
          <p:nvPr/>
        </p:nvSpPr>
        <p:spPr>
          <a:xfrm>
            <a:off x="6081489" y="3585425"/>
            <a:ext cx="609600" cy="59020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EF53EB4-7F7A-1C48-4AA6-CEA2C2268F2A}"/>
              </a:ext>
            </a:extLst>
          </p:cNvPr>
          <p:cNvSpPr txBox="1">
            <a:spLocks/>
          </p:cNvSpPr>
          <p:nvPr/>
        </p:nvSpPr>
        <p:spPr>
          <a:xfrm>
            <a:off x="6687731" y="3200440"/>
            <a:ext cx="5477613" cy="14205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Iteration: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cnt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= 1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 We add 1 to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cnt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 =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cnt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(1)+1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 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Hello Guys is printed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D68A8D-C50A-8DD3-0F3E-84B92A271E84}"/>
              </a:ext>
            </a:extLst>
          </p:cNvPr>
          <p:cNvSpPr/>
          <p:nvPr/>
        </p:nvSpPr>
        <p:spPr>
          <a:xfrm>
            <a:off x="6099275" y="5006004"/>
            <a:ext cx="609600" cy="59020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EC990FC-E61F-521E-52D9-6788D7DBEC92}"/>
              </a:ext>
            </a:extLst>
          </p:cNvPr>
          <p:cNvSpPr txBox="1">
            <a:spLocks/>
          </p:cNvSpPr>
          <p:nvPr/>
        </p:nvSpPr>
        <p:spPr>
          <a:xfrm>
            <a:off x="6705517" y="4621019"/>
            <a:ext cx="5477613" cy="14205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Iteration: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cnt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= 2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 We add 1 to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cnt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 =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cnt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(2)+1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 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Hello Guys is printed</a:t>
            </a:r>
          </a:p>
        </p:txBody>
      </p:sp>
    </p:spTree>
    <p:extLst>
      <p:ext uri="{BB962C8B-B14F-4D97-AF65-F5344CB8AC3E}">
        <p14:creationId xmlns:p14="http://schemas.microsoft.com/office/powerpoint/2010/main" val="231619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17" grpId="0" animBg="1"/>
      <p:bldP spid="1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04A2C-046B-956A-1E56-273827FB8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1E24-6920-A7BA-146F-52B84F54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E1B8EB6-D1F0-17B0-503C-71C8C52953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636E76-277C-3A9E-B8E4-527D5A8331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E178EE-529E-C7E3-DF8A-A8CA5D91CB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B8CB3F56-25B6-6566-7CB9-869D53F713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9497E9CD-2A19-A711-209E-A4B1AC6ADD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0A53FB2-7D2E-1760-8336-83EB084732AA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77E2082-BD32-6269-2CBD-1B53770BEA10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accent4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While</a:t>
            </a:r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loop in detail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C9CCD9-E8F1-FE3F-65FE-EA08F0D76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38" y="2350919"/>
            <a:ext cx="5521094" cy="338222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5C7FA0F-24ED-FC38-831B-A49203D1ABCF}"/>
              </a:ext>
            </a:extLst>
          </p:cNvPr>
          <p:cNvSpPr/>
          <p:nvPr/>
        </p:nvSpPr>
        <p:spPr>
          <a:xfrm>
            <a:off x="6081489" y="2179477"/>
            <a:ext cx="609600" cy="59020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F0D9D69-F66E-6569-678B-573E97836F0F}"/>
              </a:ext>
            </a:extLst>
          </p:cNvPr>
          <p:cNvSpPr txBox="1">
            <a:spLocks/>
          </p:cNvSpPr>
          <p:nvPr/>
        </p:nvSpPr>
        <p:spPr>
          <a:xfrm>
            <a:off x="6687731" y="1758326"/>
            <a:ext cx="5477613" cy="14205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Iteration: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cnt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= </a:t>
            </a:r>
            <a:r>
              <a:rPr lang="en-GB" sz="2800" dirty="0">
                <a:solidFill>
                  <a:srgbClr val="C00000"/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3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 We do not accomplish the condition 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cnt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 lower than 3!!!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959EF208-4F26-C07E-3E93-EF874848E7B0}"/>
              </a:ext>
            </a:extLst>
          </p:cNvPr>
          <p:cNvSpPr/>
          <p:nvPr/>
        </p:nvSpPr>
        <p:spPr>
          <a:xfrm>
            <a:off x="8517512" y="3178905"/>
            <a:ext cx="653143" cy="12046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D440B0E-F431-95AA-93CA-84B529C1FA27}"/>
              </a:ext>
            </a:extLst>
          </p:cNvPr>
          <p:cNvSpPr txBox="1">
            <a:spLocks/>
          </p:cNvSpPr>
          <p:nvPr/>
        </p:nvSpPr>
        <p:spPr>
          <a:xfrm>
            <a:off x="6503794" y="4317565"/>
            <a:ext cx="4680580" cy="814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Exiting the while loop…</a:t>
            </a:r>
            <a:endParaRPr lang="en-GB" sz="2800" dirty="0">
              <a:solidFill>
                <a:srgbClr val="C00000"/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8209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C4FF2-E9E9-D5E4-11B1-37BBFEDB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3807-84CC-F822-CC1B-B32B5BB1A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6366A32-D638-D4CC-325F-0E58927A7D7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7CF9E25-BA88-7B60-BD93-AF03BC6F28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C60ED9-9663-0F52-F5D5-D869C67B12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83A117F0-0872-C2C2-59B7-CD59C6266E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260350B0-4104-0D4A-29D7-BEDE134FE8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7B4DD7C-98B3-9172-5FE8-3FA33E5D572C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ACFA950-4790-55DE-4C28-A58630158982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For vs While loop: which should I use?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A45203-F98C-BA54-2D2A-A1D3B988C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5" y="2816969"/>
            <a:ext cx="4831808" cy="22210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2E6883-77EC-4642-E7CF-F34C055B7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013" y="2810893"/>
            <a:ext cx="3568753" cy="218621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C067617E-83C4-163C-9F42-5C96B12AB8B6}"/>
              </a:ext>
            </a:extLst>
          </p:cNvPr>
          <p:cNvSpPr txBox="1">
            <a:spLocks/>
          </p:cNvSpPr>
          <p:nvPr/>
        </p:nvSpPr>
        <p:spPr>
          <a:xfrm>
            <a:off x="366233" y="5013341"/>
            <a:ext cx="5729768" cy="14205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- When you have a </a:t>
            </a:r>
            <a:r>
              <a:rPr lang="en-GB" sz="2800" dirty="0">
                <a:solidFill>
                  <a:schemeClr val="accent2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collection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- You know what to iterate through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- Simple and more save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D21629-B0CA-7585-7F0C-5A07D841F72D}"/>
              </a:ext>
            </a:extLst>
          </p:cNvPr>
          <p:cNvSpPr txBox="1">
            <a:spLocks/>
          </p:cNvSpPr>
          <p:nvPr/>
        </p:nvSpPr>
        <p:spPr>
          <a:xfrm>
            <a:off x="6401833" y="5013341"/>
            <a:ext cx="5729768" cy="14205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- When you have a </a:t>
            </a:r>
            <a:r>
              <a:rPr lang="en-GB" sz="2800" dirty="0">
                <a:solidFill>
                  <a:schemeClr val="accent6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condition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  <a:sym typeface="Wingdings" pitchFamily="2" charset="2"/>
              </a:rPr>
              <a:t>- Don’t know how many iterations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- More flexible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0CD9684-88CD-E8FC-EF60-56D0A8CF4F93}"/>
              </a:ext>
            </a:extLst>
          </p:cNvPr>
          <p:cNvSpPr txBox="1">
            <a:spLocks/>
          </p:cNvSpPr>
          <p:nvPr/>
        </p:nvSpPr>
        <p:spPr>
          <a:xfrm>
            <a:off x="844675" y="2363073"/>
            <a:ext cx="4848336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for loop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5811BFF-678D-9DA1-E18A-09A91DC8A921}"/>
              </a:ext>
            </a:extLst>
          </p:cNvPr>
          <p:cNvSpPr txBox="1">
            <a:spLocks/>
          </p:cNvSpPr>
          <p:nvPr/>
        </p:nvSpPr>
        <p:spPr>
          <a:xfrm>
            <a:off x="6975013" y="2341010"/>
            <a:ext cx="3568753" cy="60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while loop</a:t>
            </a:r>
          </a:p>
        </p:txBody>
      </p:sp>
    </p:spTree>
    <p:extLst>
      <p:ext uri="{BB962C8B-B14F-4D97-AF65-F5344CB8AC3E}">
        <p14:creationId xmlns:p14="http://schemas.microsoft.com/office/powerpoint/2010/main" val="4593923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5BEFC-03C5-717A-8EC5-F3796A647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D6F08-FCD2-839C-F936-51DEE36AB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996169B-DE17-5515-C965-6A955CA8C3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95CAE21-A282-1839-EF40-F0D10066A3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8AC374-62A2-571E-988B-55A5019B25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67D48813-0DEE-F2DC-B793-63A4DBFECB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3C330021-502F-8CC1-378F-D0D4404821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964F335-A72F-7930-4E91-3CA0F4F788D4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3C657C0-DEB0-0DD5-3B3A-7A0DE9E8D2E9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Conditional statements: if condition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Used to execute certain blocks of code based on specific conditions.</a:t>
            </a:r>
          </a:p>
        </p:txBody>
      </p:sp>
      <p:pic>
        <p:nvPicPr>
          <p:cNvPr id="3" name="Picture 12" descr="How to Draw a Chocolate Bar - Really Easy Drawing Tutorial">
            <a:extLst>
              <a:ext uri="{FF2B5EF4-FFF2-40B4-BE49-F238E27FC236}">
                <a16:creationId xmlns:a16="http://schemas.microsoft.com/office/drawing/2014/main" id="{9CBC4537-280A-F092-09D4-099D4636E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294" y="3560388"/>
            <a:ext cx="1956627" cy="19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4831321-6944-2172-121E-6955FD597231}"/>
              </a:ext>
            </a:extLst>
          </p:cNvPr>
          <p:cNvSpPr txBox="1">
            <a:spLocks/>
          </p:cNvSpPr>
          <p:nvPr/>
        </p:nvSpPr>
        <p:spPr>
          <a:xfrm>
            <a:off x="1524000" y="5279985"/>
            <a:ext cx="3059213" cy="602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Is this chocolate?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7DFB0F9-3262-E47C-3B61-160C3DBF3F48}"/>
              </a:ext>
            </a:extLst>
          </p:cNvPr>
          <p:cNvCxnSpPr>
            <a:cxnSpLocks/>
          </p:cNvCxnSpPr>
          <p:nvPr/>
        </p:nvCxnSpPr>
        <p:spPr>
          <a:xfrm flipV="1">
            <a:off x="4031921" y="3920357"/>
            <a:ext cx="1497345" cy="62261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AE51100-3663-112A-0214-837279F83A42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031921" y="4535767"/>
            <a:ext cx="1497345" cy="65684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298" name="Picture 2" descr="Download Thumbs Up Hand Sign Emoji | Emoji Island">
            <a:extLst>
              <a:ext uri="{FF2B5EF4-FFF2-40B4-BE49-F238E27FC236}">
                <a16:creationId xmlns:a16="http://schemas.microsoft.com/office/drawing/2014/main" id="{77E5A178-9F9A-367D-7D1D-63BAF7B83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256" y="3495049"/>
            <a:ext cx="747484" cy="7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300" name="Picture 4" descr="Download White Thumbs Down Sign Emoji Icon | Emoji Island">
            <a:extLst>
              <a:ext uri="{FF2B5EF4-FFF2-40B4-BE49-F238E27FC236}">
                <a16:creationId xmlns:a16="http://schemas.microsoft.com/office/drawing/2014/main" id="{EC7591A3-4A7B-F308-D116-8F1F27217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256" y="4976147"/>
            <a:ext cx="747484" cy="7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8E95B12-BCD4-9974-9829-7F490A6705B2}"/>
              </a:ext>
            </a:extLst>
          </p:cNvPr>
          <p:cNvCxnSpPr/>
          <p:nvPr/>
        </p:nvCxnSpPr>
        <p:spPr>
          <a:xfrm>
            <a:off x="6647543" y="3920357"/>
            <a:ext cx="914400" cy="7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F97860-F94D-2BCA-6E96-0EF30546268B}"/>
              </a:ext>
            </a:extLst>
          </p:cNvPr>
          <p:cNvCxnSpPr/>
          <p:nvPr/>
        </p:nvCxnSpPr>
        <p:spPr>
          <a:xfrm>
            <a:off x="6647543" y="5190138"/>
            <a:ext cx="914400" cy="7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itle 1">
            <a:extLst>
              <a:ext uri="{FF2B5EF4-FFF2-40B4-BE49-F238E27FC236}">
                <a16:creationId xmlns:a16="http://schemas.microsoft.com/office/drawing/2014/main" id="{363FACE0-1082-AA56-F44A-0473DBA240F0}"/>
              </a:ext>
            </a:extLst>
          </p:cNvPr>
          <p:cNvSpPr txBox="1">
            <a:spLocks/>
          </p:cNvSpPr>
          <p:nvPr/>
        </p:nvSpPr>
        <p:spPr>
          <a:xfrm>
            <a:off x="7603633" y="3630624"/>
            <a:ext cx="1325975" cy="602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Buy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8352414-795D-18C7-49B5-FDE04BCBC829}"/>
              </a:ext>
            </a:extLst>
          </p:cNvPr>
          <p:cNvSpPr txBox="1">
            <a:spLocks/>
          </p:cNvSpPr>
          <p:nvPr/>
        </p:nvSpPr>
        <p:spPr>
          <a:xfrm>
            <a:off x="7608783" y="4902612"/>
            <a:ext cx="1779059" cy="602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Don’t buy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09E3DDF-67E4-405C-E7F9-92DCFC1486E1}"/>
              </a:ext>
            </a:extLst>
          </p:cNvPr>
          <p:cNvSpPr/>
          <p:nvPr/>
        </p:nvSpPr>
        <p:spPr>
          <a:xfrm>
            <a:off x="4031921" y="3309256"/>
            <a:ext cx="4589565" cy="1265587"/>
          </a:xfrm>
          <a:prstGeom prst="roundRect">
            <a:avLst/>
          </a:prstGeom>
          <a:solidFill>
            <a:schemeClr val="bg2">
              <a:lumMod val="90000"/>
              <a:alpha val="5501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7569018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55D54-F0A1-439E-F8D2-7959F0B25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5C31-4B17-FBB0-DABC-9D1B95154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1AB56DD-FB7C-0063-62F5-D2C58B96C7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5C0F609-D15A-5606-808B-CEB2D257C2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1221C8-E544-3ACB-A529-348C182C61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275456B4-94A9-C26F-70EC-69835989F8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DB6C587D-4C26-0BF6-C8F3-0B05C4B85E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E14DD98-E98C-B937-7560-69910C9C505B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5DB4C5F-B3C0-83FE-771B-89501FFF046D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Conditional statements: if condition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Used to execute certain blocks of code based on specific conditions.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04C26B-1217-F845-F42C-DC163D8E3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256" y="3138716"/>
            <a:ext cx="6623488" cy="331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759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ADAFC-9E84-620F-1162-941F5432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A27DF-6BB4-900D-3554-259225C37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9D18489-4820-8D17-5029-DEAC1391F9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AE3279D-77B2-B757-AAE1-7B94EB6CD9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29EF2E-7CD4-EAEC-EA44-7086B26197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DE36A6AD-078C-466E-8A02-465F63A016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D3BF40BE-19C3-A0FF-A5FF-3221F14B77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9E70DE5-5F4B-5227-61CA-03ABF3CC2FE3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C8171E-FC6B-0B5B-44E7-A8A0CCC28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37" y="3071437"/>
            <a:ext cx="5255458" cy="2632678"/>
          </a:xfrm>
          <a:prstGeom prst="rect">
            <a:avLst/>
          </a:prstGeom>
        </p:spPr>
      </p:pic>
      <p:sp>
        <p:nvSpPr>
          <p:cNvPr id="3" name="Equals 2">
            <a:extLst>
              <a:ext uri="{FF2B5EF4-FFF2-40B4-BE49-F238E27FC236}">
                <a16:creationId xmlns:a16="http://schemas.microsoft.com/office/drawing/2014/main" id="{CAA3B897-2353-5813-5933-7969EE3D804D}"/>
              </a:ext>
            </a:extLst>
          </p:cNvPr>
          <p:cNvSpPr/>
          <p:nvPr/>
        </p:nvSpPr>
        <p:spPr>
          <a:xfrm>
            <a:off x="5809899" y="3691090"/>
            <a:ext cx="1120676" cy="1393372"/>
          </a:xfrm>
          <a:prstGeom prst="mathEqual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EA668F3-6E62-0231-C1A8-947E8F6D62BA}"/>
              </a:ext>
            </a:extLst>
          </p:cNvPr>
          <p:cNvSpPr txBox="1">
            <a:spLocks/>
          </p:cNvSpPr>
          <p:nvPr/>
        </p:nvSpPr>
        <p:spPr>
          <a:xfrm>
            <a:off x="6930575" y="3071437"/>
            <a:ext cx="4789455" cy="26326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For each product in the shopping list: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	if product is chocolate: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		</a:t>
            </a:r>
            <a:r>
              <a:rPr lang="en-GB" sz="2800" dirty="0">
                <a:solidFill>
                  <a:schemeClr val="accent6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buy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E0EAEB-196E-EF18-74FE-EB558F534939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Conditional statements: if condition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9861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DEB51-CBA7-31E2-D775-94722090E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0E5E7-CB8D-F778-087E-47C064893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9130191-4EC1-1611-2815-CC152EB0BE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E5AFFFC-30E2-DD5B-69E7-98740415CB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435715-1F61-C6EC-67C1-FF78C5E5F6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7A86C131-6BC4-6E23-3548-2567048553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483481D3-6F8E-117E-66FA-7A3081C116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8289718-33A2-830B-88D5-15BD38648080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18902E-55E3-C908-E1F8-EFE041A685C6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Conditional statements: if/else condition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Allows us to specify a block of code that will execute if the condition associated with an if statement evaluates to False.</a:t>
            </a:r>
          </a:p>
        </p:txBody>
      </p:sp>
      <p:pic>
        <p:nvPicPr>
          <p:cNvPr id="3" name="Picture 12" descr="How to Draw a Chocolate Bar - Really Easy Drawing Tutorial">
            <a:extLst>
              <a:ext uri="{FF2B5EF4-FFF2-40B4-BE49-F238E27FC236}">
                <a16:creationId xmlns:a16="http://schemas.microsoft.com/office/drawing/2014/main" id="{2B1D011B-C539-2002-DCB7-4A51262AD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294" y="3705529"/>
            <a:ext cx="1956627" cy="19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A8E654B-3E43-7BB2-1B2D-37E535874A17}"/>
              </a:ext>
            </a:extLst>
          </p:cNvPr>
          <p:cNvSpPr txBox="1">
            <a:spLocks/>
          </p:cNvSpPr>
          <p:nvPr/>
        </p:nvSpPr>
        <p:spPr>
          <a:xfrm>
            <a:off x="1524000" y="5425126"/>
            <a:ext cx="3059213" cy="602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Is this chocolate?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31491B-76C9-A4F6-F3FA-5C17D09EB668}"/>
              </a:ext>
            </a:extLst>
          </p:cNvPr>
          <p:cNvCxnSpPr>
            <a:cxnSpLocks/>
          </p:cNvCxnSpPr>
          <p:nvPr/>
        </p:nvCxnSpPr>
        <p:spPr>
          <a:xfrm flipV="1">
            <a:off x="4031921" y="4065498"/>
            <a:ext cx="1497345" cy="62261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F60E11-CC9E-5925-6E57-FF254BA84077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031921" y="4680908"/>
            <a:ext cx="1497345" cy="65684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Download Thumbs Up Hand Sign Emoji | Emoji Island">
            <a:extLst>
              <a:ext uri="{FF2B5EF4-FFF2-40B4-BE49-F238E27FC236}">
                <a16:creationId xmlns:a16="http://schemas.microsoft.com/office/drawing/2014/main" id="{31CCE44C-C82E-A28F-0907-416AB1A6E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256" y="3640190"/>
            <a:ext cx="747484" cy="7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Download White Thumbs Down Sign Emoji Icon | Emoji Island">
            <a:extLst>
              <a:ext uri="{FF2B5EF4-FFF2-40B4-BE49-F238E27FC236}">
                <a16:creationId xmlns:a16="http://schemas.microsoft.com/office/drawing/2014/main" id="{9A4D6FB4-682D-8F61-4CE8-F563003CA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256" y="5121288"/>
            <a:ext cx="747484" cy="7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920288-17BA-61DF-4506-6BF9E84A589E}"/>
              </a:ext>
            </a:extLst>
          </p:cNvPr>
          <p:cNvCxnSpPr/>
          <p:nvPr/>
        </p:nvCxnSpPr>
        <p:spPr>
          <a:xfrm>
            <a:off x="6647543" y="4065498"/>
            <a:ext cx="914400" cy="7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4B7732-F33A-F87D-1B86-0AB203530EA0}"/>
              </a:ext>
            </a:extLst>
          </p:cNvPr>
          <p:cNvCxnSpPr/>
          <p:nvPr/>
        </p:nvCxnSpPr>
        <p:spPr>
          <a:xfrm>
            <a:off x="6647543" y="5335279"/>
            <a:ext cx="914400" cy="7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5E6931A-C92B-682C-E551-95AC395672C2}"/>
              </a:ext>
            </a:extLst>
          </p:cNvPr>
          <p:cNvSpPr txBox="1">
            <a:spLocks/>
          </p:cNvSpPr>
          <p:nvPr/>
        </p:nvSpPr>
        <p:spPr>
          <a:xfrm>
            <a:off x="7603633" y="3775765"/>
            <a:ext cx="1325975" cy="602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Buy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06C0A90-1F73-5B8F-FB49-1C584B4D0EA9}"/>
              </a:ext>
            </a:extLst>
          </p:cNvPr>
          <p:cNvSpPr txBox="1">
            <a:spLocks/>
          </p:cNvSpPr>
          <p:nvPr/>
        </p:nvSpPr>
        <p:spPr>
          <a:xfrm>
            <a:off x="7608783" y="5047753"/>
            <a:ext cx="1779059" cy="602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Don’t buy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5571E6D-3D92-4726-EC11-ABD50582C1BB}"/>
              </a:ext>
            </a:extLst>
          </p:cNvPr>
          <p:cNvSpPr/>
          <p:nvPr/>
        </p:nvSpPr>
        <p:spPr>
          <a:xfrm>
            <a:off x="4798277" y="4680908"/>
            <a:ext cx="4589565" cy="1272791"/>
          </a:xfrm>
          <a:prstGeom prst="roundRect">
            <a:avLst/>
          </a:prstGeom>
          <a:solidFill>
            <a:schemeClr val="bg2">
              <a:lumMod val="90000"/>
              <a:alpha val="5501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2" name="Curved Down Arrow 21">
            <a:extLst>
              <a:ext uri="{FF2B5EF4-FFF2-40B4-BE49-F238E27FC236}">
                <a16:creationId xmlns:a16="http://schemas.microsoft.com/office/drawing/2014/main" id="{8A5F61F5-2F3B-6A92-0879-8DAB2EDD3795}"/>
              </a:ext>
            </a:extLst>
          </p:cNvPr>
          <p:cNvSpPr/>
          <p:nvPr/>
        </p:nvSpPr>
        <p:spPr>
          <a:xfrm rot="3711552">
            <a:off x="8925228" y="4051183"/>
            <a:ext cx="1280158" cy="62261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1"/>
              </a:solidFill>
            </a:endParaRPr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C0C9B321-9491-B35D-2319-0648FA514FE0}"/>
              </a:ext>
            </a:extLst>
          </p:cNvPr>
          <p:cNvSpPr/>
          <p:nvPr/>
        </p:nvSpPr>
        <p:spPr>
          <a:xfrm rot="18938427">
            <a:off x="4450707" y="3981876"/>
            <a:ext cx="786606" cy="751612"/>
          </a:xfrm>
          <a:prstGeom prst="plus">
            <a:avLst>
              <a:gd name="adj" fmla="val 40117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96276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E81C7-1853-79B8-C723-3B829A7D0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3AB15-D166-C5C6-119F-A002272B3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7E0D2A1-FF90-3174-63B0-93A342EED7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15AE13D-6992-0EFF-274A-271FFEE1F0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3FE6696-A466-D55A-2E1C-44477D1A0A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E5C93C3E-D189-4C51-3F74-E5CFFD3232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FAED3AA4-6D90-AAFE-D9A8-8AD66405EA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9204E3B-22D3-240C-C049-013D8DB6955D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DC5092F-8436-406D-2E97-90774D02F882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Conditional statements: if/else condition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Allows us to specify a block of code that will execute if the condition associated with an if statement evaluates to False.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F4C9D3-BCFB-6A66-3409-CC98A88FC4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882"/>
          <a:stretch>
            <a:fillRect/>
          </a:stretch>
        </p:blipFill>
        <p:spPr>
          <a:xfrm>
            <a:off x="3930524" y="3436502"/>
            <a:ext cx="4942618" cy="302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847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BA59F-AF53-B4C5-C850-B5A5CAB59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AC28A-E047-D0B4-5AA8-B3D348032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0B2FF58-47D4-2E4E-78FF-4B4D967231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EB2C6E2-24F2-853E-47D2-424B1F8463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2AA1DCB-E47A-0E0B-DF74-C9C1E23537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DA1FB852-925E-3C28-7CAA-021B7D020B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B3B96066-69F2-12E4-A655-61CF4A969F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E5D5996-342E-86CD-E2FB-D56D9CCE99BF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3" name="Equals 2">
            <a:extLst>
              <a:ext uri="{FF2B5EF4-FFF2-40B4-BE49-F238E27FC236}">
                <a16:creationId xmlns:a16="http://schemas.microsoft.com/office/drawing/2014/main" id="{8F230BF7-32E8-5E6D-E3C3-48B140FEF776}"/>
              </a:ext>
            </a:extLst>
          </p:cNvPr>
          <p:cNvSpPr/>
          <p:nvPr/>
        </p:nvSpPr>
        <p:spPr>
          <a:xfrm>
            <a:off x="5636347" y="3706812"/>
            <a:ext cx="1120676" cy="1393372"/>
          </a:xfrm>
          <a:prstGeom prst="mathEqual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9768421-E9D8-568A-C3AF-04CDCFAD652C}"/>
              </a:ext>
            </a:extLst>
          </p:cNvPr>
          <p:cNvSpPr txBox="1">
            <a:spLocks/>
          </p:cNvSpPr>
          <p:nvPr/>
        </p:nvSpPr>
        <p:spPr>
          <a:xfrm>
            <a:off x="6350699" y="2814762"/>
            <a:ext cx="5545158" cy="3108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For each product in the shopping list: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	if product is chocolate: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		</a:t>
            </a:r>
            <a:r>
              <a:rPr lang="en-GB" sz="2800" dirty="0">
                <a:solidFill>
                  <a:schemeClr val="accent6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buy</a:t>
            </a:r>
          </a:p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	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if product is not chocolate:</a:t>
            </a:r>
          </a:p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		</a:t>
            </a:r>
            <a:r>
              <a:rPr lang="en-GB" sz="2800" dirty="0">
                <a:solidFill>
                  <a:srgbClr val="C00000"/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not buying</a:t>
            </a:r>
            <a:endParaRPr lang="en-GB" sz="2800" dirty="0">
              <a:solidFill>
                <a:schemeClr val="accent6">
                  <a:lumMod val="75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F9B1735-36FF-438A-FC89-47E10BFE40DB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Conditional statements: if/else condition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C6A359-5158-50B9-862C-46CEF77C36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882"/>
          <a:stretch>
            <a:fillRect/>
          </a:stretch>
        </p:blipFill>
        <p:spPr>
          <a:xfrm>
            <a:off x="637498" y="2837334"/>
            <a:ext cx="5076804" cy="310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6513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1AE30-EB61-6C6D-61C0-79B1DD349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528D-F034-D7E1-904E-FE2BC604B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97706FB-0594-5468-4152-06BA4F94C3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E2B031C-B907-2873-00BE-2ECB55C945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9E99562-5E65-CFB9-EDF3-1C00D9CF59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98295606-DAE6-3587-F651-8BB65476A7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B85DC1B3-74CD-D513-7E04-ACF151BF0C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0B56E89-B9F4-4656-CDDE-3735C8264C30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C736371-FA3E-D807-DA81-1539A8A7CBFD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09875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Conditional statements: </a:t>
            </a:r>
            <a:r>
              <a:rPr lang="en-GB" sz="2800" u="sng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elif</a:t>
            </a:r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condition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Stands for “else if”. Allows us to check multiple conditions, providing a way to execute different blocks of code based on which condition is true</a:t>
            </a:r>
          </a:p>
        </p:txBody>
      </p:sp>
      <p:pic>
        <p:nvPicPr>
          <p:cNvPr id="3" name="Picture 12" descr="How to Draw a Chocolate Bar - Really Easy Drawing Tutorial">
            <a:extLst>
              <a:ext uri="{FF2B5EF4-FFF2-40B4-BE49-F238E27FC236}">
                <a16:creationId xmlns:a16="http://schemas.microsoft.com/office/drawing/2014/main" id="{C132B008-A3D0-59B0-4BC5-B91C73DB3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294" y="3705529"/>
            <a:ext cx="1956627" cy="19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273FE99-E5DC-0E71-F8FC-44DD4C6C0448}"/>
              </a:ext>
            </a:extLst>
          </p:cNvPr>
          <p:cNvSpPr txBox="1">
            <a:spLocks/>
          </p:cNvSpPr>
          <p:nvPr/>
        </p:nvSpPr>
        <p:spPr>
          <a:xfrm>
            <a:off x="1524000" y="5425126"/>
            <a:ext cx="3059213" cy="602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Is this chocolate?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C07F42-41EF-685E-A880-01B54BC2BA3E}"/>
              </a:ext>
            </a:extLst>
          </p:cNvPr>
          <p:cNvCxnSpPr>
            <a:cxnSpLocks/>
          </p:cNvCxnSpPr>
          <p:nvPr/>
        </p:nvCxnSpPr>
        <p:spPr>
          <a:xfrm flipV="1">
            <a:off x="4031921" y="4065498"/>
            <a:ext cx="1497345" cy="62261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D4F20D-AEAC-D241-0DEA-34169B6C6662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031921" y="4680908"/>
            <a:ext cx="1561872" cy="1230626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Download Thumbs Up Hand Sign Emoji | Emoji Island">
            <a:extLst>
              <a:ext uri="{FF2B5EF4-FFF2-40B4-BE49-F238E27FC236}">
                <a16:creationId xmlns:a16="http://schemas.microsoft.com/office/drawing/2014/main" id="{1B093D56-9850-518B-2758-C6A39FA7C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256" y="3451507"/>
            <a:ext cx="747484" cy="7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Download White Thumbs Down Sign Emoji Icon | Emoji Island">
            <a:extLst>
              <a:ext uri="{FF2B5EF4-FFF2-40B4-BE49-F238E27FC236}">
                <a16:creationId xmlns:a16="http://schemas.microsoft.com/office/drawing/2014/main" id="{AC582682-67B2-4FB3-8CA8-330F22C73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256" y="5716372"/>
            <a:ext cx="747484" cy="7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D58434-A484-0198-01CC-86B2DFECAADC}"/>
              </a:ext>
            </a:extLst>
          </p:cNvPr>
          <p:cNvCxnSpPr/>
          <p:nvPr/>
        </p:nvCxnSpPr>
        <p:spPr>
          <a:xfrm>
            <a:off x="6647543" y="3876815"/>
            <a:ext cx="914400" cy="7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750BC2-C308-662A-D5B5-4A3CFEFC9C01}"/>
              </a:ext>
            </a:extLst>
          </p:cNvPr>
          <p:cNvCxnSpPr/>
          <p:nvPr/>
        </p:nvCxnSpPr>
        <p:spPr>
          <a:xfrm>
            <a:off x="6647543" y="5930363"/>
            <a:ext cx="914400" cy="7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6755B95B-AEB5-ED87-B9FE-FBB8768E4F50}"/>
              </a:ext>
            </a:extLst>
          </p:cNvPr>
          <p:cNvSpPr txBox="1">
            <a:spLocks/>
          </p:cNvSpPr>
          <p:nvPr/>
        </p:nvSpPr>
        <p:spPr>
          <a:xfrm>
            <a:off x="7603633" y="3587082"/>
            <a:ext cx="1325975" cy="602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Buy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1F61A80-9A03-C3D0-0891-CC2F675404F6}"/>
              </a:ext>
            </a:extLst>
          </p:cNvPr>
          <p:cNvSpPr txBox="1">
            <a:spLocks/>
          </p:cNvSpPr>
          <p:nvPr/>
        </p:nvSpPr>
        <p:spPr>
          <a:xfrm>
            <a:off x="7608783" y="5642837"/>
            <a:ext cx="1779059" cy="602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Don’t buy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3B6CFEE-E132-D491-321E-415C3E84DD02}"/>
              </a:ext>
            </a:extLst>
          </p:cNvPr>
          <p:cNvSpPr/>
          <p:nvPr/>
        </p:nvSpPr>
        <p:spPr>
          <a:xfrm>
            <a:off x="5469357" y="4274929"/>
            <a:ext cx="5953014" cy="1272791"/>
          </a:xfrm>
          <a:prstGeom prst="roundRect">
            <a:avLst/>
          </a:prstGeom>
          <a:solidFill>
            <a:schemeClr val="bg2">
              <a:lumMod val="90000"/>
              <a:alpha val="5501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8EA5FF77-3CC8-92F0-557B-C87A7BB5AE28}"/>
              </a:ext>
            </a:extLst>
          </p:cNvPr>
          <p:cNvSpPr/>
          <p:nvPr/>
        </p:nvSpPr>
        <p:spPr>
          <a:xfrm rot="18938427">
            <a:off x="4532107" y="3960591"/>
            <a:ext cx="786606" cy="751612"/>
          </a:xfrm>
          <a:prstGeom prst="plus">
            <a:avLst>
              <a:gd name="adj" fmla="val 40117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6A9156-0E77-EAC3-2913-96692D5AD960}"/>
              </a:ext>
            </a:extLst>
          </p:cNvPr>
          <p:cNvCxnSpPr>
            <a:cxnSpLocks/>
          </p:cNvCxnSpPr>
          <p:nvPr/>
        </p:nvCxnSpPr>
        <p:spPr>
          <a:xfrm>
            <a:off x="4031920" y="4673749"/>
            <a:ext cx="1497346" cy="304887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492" name="Picture 4" descr="STOP HAND emoji | AI Emoji Generator">
            <a:extLst>
              <a:ext uri="{FF2B5EF4-FFF2-40B4-BE49-F238E27FC236}">
                <a16:creationId xmlns:a16="http://schemas.microsoft.com/office/drawing/2014/main" id="{FAE23E5A-6145-BFEE-F472-87F1D76E2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755799" y="4570467"/>
            <a:ext cx="675522" cy="67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C375A0E-3D42-7F73-C1A1-9A979EC39E78}"/>
              </a:ext>
            </a:extLst>
          </p:cNvPr>
          <p:cNvCxnSpPr/>
          <p:nvPr/>
        </p:nvCxnSpPr>
        <p:spPr>
          <a:xfrm>
            <a:off x="6642954" y="4960663"/>
            <a:ext cx="914400" cy="7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itle 1">
            <a:extLst>
              <a:ext uri="{FF2B5EF4-FFF2-40B4-BE49-F238E27FC236}">
                <a16:creationId xmlns:a16="http://schemas.microsoft.com/office/drawing/2014/main" id="{665D9278-58F5-BD90-9A4E-3D2001D7F9C6}"/>
              </a:ext>
            </a:extLst>
          </p:cNvPr>
          <p:cNvSpPr txBox="1">
            <a:spLocks/>
          </p:cNvSpPr>
          <p:nvPr/>
        </p:nvSpPr>
        <p:spPr>
          <a:xfrm>
            <a:off x="7603633" y="4638327"/>
            <a:ext cx="2846653" cy="602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Is this banana?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CF4DBA2-A719-E2F4-7280-B7A7E1F2EDD6}"/>
              </a:ext>
            </a:extLst>
          </p:cNvPr>
          <p:cNvCxnSpPr>
            <a:cxnSpLocks/>
          </p:cNvCxnSpPr>
          <p:nvPr/>
        </p:nvCxnSpPr>
        <p:spPr>
          <a:xfrm flipV="1">
            <a:off x="10236896" y="4680907"/>
            <a:ext cx="466288" cy="296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itle 1">
            <a:extLst>
              <a:ext uri="{FF2B5EF4-FFF2-40B4-BE49-F238E27FC236}">
                <a16:creationId xmlns:a16="http://schemas.microsoft.com/office/drawing/2014/main" id="{8DF66C1D-FB0B-40DD-500F-18D8653FFDAC}"/>
              </a:ext>
            </a:extLst>
          </p:cNvPr>
          <p:cNvSpPr txBox="1">
            <a:spLocks/>
          </p:cNvSpPr>
          <p:nvPr/>
        </p:nvSpPr>
        <p:spPr>
          <a:xfrm>
            <a:off x="10403751" y="4200004"/>
            <a:ext cx="1325975" cy="602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Buy</a:t>
            </a:r>
          </a:p>
        </p:txBody>
      </p:sp>
    </p:spTree>
    <p:extLst>
      <p:ext uri="{BB962C8B-B14F-4D97-AF65-F5344CB8AC3E}">
        <p14:creationId xmlns:p14="http://schemas.microsoft.com/office/powerpoint/2010/main" val="234316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4CBBB-8ED2-DBD5-1336-0E16304E0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02A9-8F87-DDA3-F60E-A45A5C16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EE40EF5-B4B9-68FD-8290-6B6BE85C24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60C3319-BB62-21C9-9DE7-50B0A19EB2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DDDB2D-063A-8021-3422-C1F0EEC960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3BE61E6A-5ACE-87FE-6F22-52D6E14C9B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76BC5C1E-9438-0B92-8AA8-0940A1427D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D150178-A000-48F6-5F46-7C345BBF7194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81512C8-5F58-F4AB-993F-583353AEDEE6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09875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Conditional statements: if/else condition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Stands for “else if”. Allows us to check multiple conditions, providing a way to execute different blocks of code based on which condition is true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C7E1C1-DEB6-1DD2-AB0C-B4D44F43C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627" y="3495049"/>
            <a:ext cx="4402746" cy="318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1138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5938D-5CD8-281D-11C3-32E51C5BB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EBFFA-F1F2-0D42-271D-E152482F0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AEFEAF9-031C-AD98-9A7E-19913C6A725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D518C1C-B200-2D03-FF98-E7E8846174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48F655-457F-D50D-B523-89F2438E2D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D10004AD-4B81-F968-DD60-150492799D1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980DE69E-2533-A729-1F7A-B80E4EF074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98051D4-DD81-5054-E100-879407CAC20A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Loops and conditions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3" name="Equals 2">
            <a:extLst>
              <a:ext uri="{FF2B5EF4-FFF2-40B4-BE49-F238E27FC236}">
                <a16:creationId xmlns:a16="http://schemas.microsoft.com/office/drawing/2014/main" id="{D446BFE0-E21B-9A41-192C-8216663F11EE}"/>
              </a:ext>
            </a:extLst>
          </p:cNvPr>
          <p:cNvSpPr/>
          <p:nvPr/>
        </p:nvSpPr>
        <p:spPr>
          <a:xfrm>
            <a:off x="5636347" y="3706812"/>
            <a:ext cx="1120676" cy="1393372"/>
          </a:xfrm>
          <a:prstGeom prst="mathEqual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294E855-167B-2322-60A6-4C9AA0F51FD3}"/>
              </a:ext>
            </a:extLst>
          </p:cNvPr>
          <p:cNvSpPr txBox="1">
            <a:spLocks/>
          </p:cNvSpPr>
          <p:nvPr/>
        </p:nvSpPr>
        <p:spPr>
          <a:xfrm>
            <a:off x="6350699" y="2450164"/>
            <a:ext cx="5545158" cy="3655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For each product in the shopping list: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	if product is chocolate: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		</a:t>
            </a:r>
            <a:r>
              <a:rPr lang="en-GB" sz="2800" dirty="0">
                <a:solidFill>
                  <a:schemeClr val="accent6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buy</a:t>
            </a: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	</a:t>
            </a:r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elif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product is banana:</a:t>
            </a:r>
          </a:p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		buy</a:t>
            </a:r>
          </a:p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	</a:t>
            </a:r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if product is not chocolate 	nor banana:</a:t>
            </a:r>
          </a:p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		</a:t>
            </a:r>
            <a:r>
              <a:rPr lang="en-GB" sz="2800" dirty="0">
                <a:solidFill>
                  <a:srgbClr val="C00000"/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not buying</a:t>
            </a:r>
            <a:endParaRPr lang="en-GB" sz="2800" dirty="0">
              <a:solidFill>
                <a:schemeClr val="accent6">
                  <a:lumMod val="75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81A9449-E153-CD51-7D73-EB6F0E0BDD37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11272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Conditional statements: if/else condition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669CAF-81B7-8216-9CC1-3B87E7750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42" y="2450164"/>
            <a:ext cx="5055160" cy="365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318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80585-5257-1ACF-5255-AE10A2CC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2AA6-74DC-F7DD-03A6-8C13B9FA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07F51F7F-A7E7-685C-7B9D-BCE7AFC08D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290344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9040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443186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2114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1509039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30803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663783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35007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93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2BCE0F0-7FB6-BB5D-C4D4-4559C20C25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EC508CA-81AE-B499-DFD9-A335403EBF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5B808307-9104-93BF-1EDD-9ADC1BC09D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7769E453-3695-8A4D-34B8-1189CCFD3F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60D388E-9267-0A7E-CE0B-2AAF01856C58}"/>
              </a:ext>
            </a:extLst>
          </p:cNvPr>
          <p:cNvSpPr txBox="1">
            <a:spLocks/>
          </p:cNvSpPr>
          <p:nvPr/>
        </p:nvSpPr>
        <p:spPr>
          <a:xfrm>
            <a:off x="838200" y="2567941"/>
            <a:ext cx="10628086" cy="15684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800" dirty="0">
                <a:solidFill>
                  <a:schemeClr val="tx2">
                    <a:lumMod val="50000"/>
                    <a:lumOff val="5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Do problems 9, 10 ,11 and 12 of the strings chapter in your notebook!</a:t>
            </a:r>
            <a:endParaRPr lang="en-GB" sz="4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D5B9D34-A2BA-F223-A063-C369A0E27036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Lists and dictionaries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2208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7B4B3-1A4E-49D3-6DC0-37C77C684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8ED73-DED6-7020-2117-D4FB89FC7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6C24AE0-FFDD-D8E5-0D02-023B31331C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8052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727645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40004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9374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6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E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54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B10859A-15ED-D49C-92D8-25CF24836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E067177-DAD5-AEFA-D751-6D0FD81DEC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233" y="371476"/>
            <a:ext cx="11459535" cy="61150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pic>
        <p:nvPicPr>
          <p:cNvPr id="6" name="Picture 4" descr="Dna strand - Free education icons">
            <a:extLst>
              <a:ext uri="{FF2B5EF4-FFF2-40B4-BE49-F238E27FC236}">
                <a16:creationId xmlns:a16="http://schemas.microsoft.com/office/drawing/2014/main" id="{11202254-F479-E5F2-781C-09C34C01B5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-855662" y="-849313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na strand - Free education icons">
            <a:extLst>
              <a:ext uri="{FF2B5EF4-FFF2-40B4-BE49-F238E27FC236}">
                <a16:creationId xmlns:a16="http://schemas.microsoft.com/office/drawing/2014/main" id="{51A3CCA6-435D-3D9B-939C-4593314E58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49318">
            <a:off x="9812338" y="4569160"/>
            <a:ext cx="3108325" cy="310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1EAE3B-CC64-9966-710B-09C4B71A9A6E}"/>
              </a:ext>
            </a:extLst>
          </p:cNvPr>
          <p:cNvSpPr txBox="1">
            <a:spLocks/>
          </p:cNvSpPr>
          <p:nvPr/>
        </p:nvSpPr>
        <p:spPr>
          <a:xfrm>
            <a:off x="1524000" y="-1136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&gt; Functions</a:t>
            </a:r>
            <a:endParaRPr lang="en-ES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2557E18-29CE-78F8-25C1-D17E8AF26C65}"/>
              </a:ext>
            </a:extLst>
          </p:cNvPr>
          <p:cNvSpPr txBox="1">
            <a:spLocks/>
          </p:cNvSpPr>
          <p:nvPr/>
        </p:nvSpPr>
        <p:spPr>
          <a:xfrm>
            <a:off x="838200" y="1804361"/>
            <a:ext cx="10987567" cy="4652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Conditional statements: </a:t>
            </a:r>
            <a:r>
              <a:rPr lang="en-GB" sz="2800" u="sng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elif</a:t>
            </a:r>
            <a:r>
              <a:rPr lang="en-GB" sz="2800" u="sng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 condition</a:t>
            </a:r>
          </a:p>
          <a:p>
            <a:endParaRPr lang="en-GB" sz="2800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77"/>
              <a:cs typeface="Biome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77"/>
                <a:cs typeface="Biome" panose="020B0604020202020204" pitchFamily="34" charset="0"/>
              </a:rPr>
              <a:t>Stands for “else if”. Allows us to check multiple conditions, providing a way to execute different blocks of code based on which condition is true</a:t>
            </a:r>
          </a:p>
        </p:txBody>
      </p:sp>
    </p:spTree>
    <p:extLst>
      <p:ext uri="{BB962C8B-B14F-4D97-AF65-F5344CB8AC3E}">
        <p14:creationId xmlns:p14="http://schemas.microsoft.com/office/powerpoint/2010/main" val="18511738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3619</TotalTime>
  <Words>1851</Words>
  <Application>Microsoft Macintosh PowerPoint</Application>
  <PresentationFormat>Widescreen</PresentationFormat>
  <Paragraphs>478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Aptos</vt:lpstr>
      <vt:lpstr>Aptos Display</vt:lpstr>
      <vt:lpstr>Arial</vt:lpstr>
      <vt:lpstr>Britannic Bold</vt:lpstr>
      <vt:lpstr>Office Theme</vt:lpstr>
      <vt:lpstr>&gt; Day 2: Core Python for Bioinformatics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  <vt:lpstr>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Ticó</dc:creator>
  <cp:lastModifiedBy>Max Ticó</cp:lastModifiedBy>
  <cp:revision>75</cp:revision>
  <dcterms:created xsi:type="dcterms:W3CDTF">2026-03-17T15:13:21Z</dcterms:created>
  <dcterms:modified xsi:type="dcterms:W3CDTF">2026-03-25T20:56:15Z</dcterms:modified>
</cp:coreProperties>
</file>